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0"/>
            <a:ext cx="64008" cy="6858000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18241C"/>
                </a:solidFill>
                <a:latin typeface="Helvetica Neue"/>
              </a:rPr>
              <a:t>ShopOS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465449"/>
                </a:solidFill>
                <a:latin typeface="Helvetica Neue"/>
              </a:rPr>
              <a:t>Open-source shop operations for repair, maintenance, fabrication —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465449"/>
                </a:solidFill>
                <a:latin typeface="Helvetica Neue"/>
              </a:rPr>
              <a:t>and any business that services customer-owned assets.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8241C"/>
                </a:solidFill>
                <a:latin typeface="Helvetica Neue"/>
              </a:rPr>
              <a:t>Automotive-first, deliberately general:  </a:t>
            </a:r>
            <a:r>
              <a:rPr sz="1500" b="1">
                <a:solidFill>
                  <a:srgbClr val="9F3017"/>
                </a:solidFill>
                <a:latin typeface="Helvetica Neue"/>
              </a:rPr>
              <a:t>customers · assets · work orders · estimates · parts · invoices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486400"/>
            <a:ext cx="3108960" cy="18288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6692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8241C"/>
                </a:solidFill>
                <a:latin typeface="Helvetica Neue"/>
              </a:rPr>
              <a:t>github.com/JayQuattro/ShopOS</a:t>
            </a:r>
            <a:r>
              <a:rPr sz="1400" b="0">
                <a:solidFill>
                  <a:srgbClr val="465449"/>
                </a:solidFill>
                <a:latin typeface="Helvetica Neue"/>
              </a:rPr>
              <a:t>    ·    self-hostable    ·    no crippled community edition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Shop management software shouldn't own your 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737360"/>
            <a:ext cx="5440680" cy="4206240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1737360"/>
            <a:ext cx="5440680" cy="4206240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37360"/>
            <a:ext cx="5440680" cy="475488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737360"/>
            <a:ext cx="5440680" cy="475488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84708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THE INDUSTRY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184708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CFAF6"/>
                </a:solidFill>
                <a:latin typeface="Helvetica Neue"/>
              </a:rPr>
              <a:t>SHOPOS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48920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00" b="1">
                <a:solidFill>
                  <a:srgbClr val="18241C"/>
                </a:solidFill>
                <a:latin typeface="Helvetica Neue"/>
              </a:rPr>
              <a:t>Closed ecosystems. </a:t>
            </a:r>
            <a:r>
              <a:rPr sz="1400" b="0">
                <a:solidFill>
                  <a:srgbClr val="18241C"/>
                </a:solidFill>
                <a:latin typeface="Helvetica Neue"/>
              </a:rPr>
              <a:t>Your records live in someone else's cloud, export options are an afterthought.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00" b="1">
                <a:solidFill>
                  <a:srgbClr val="18241C"/>
                </a:solidFill>
                <a:latin typeface="Helvetica Neue"/>
              </a:rPr>
              <a:t>Per-seat pricing </a:t>
            </a:r>
            <a:r>
              <a:rPr sz="1400" b="0">
                <a:solidFill>
                  <a:srgbClr val="18241C"/>
                </a:solidFill>
                <a:latin typeface="Helvetica Neue"/>
              </a:rPr>
              <a:t>that climbs as the shop grows.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00" b="1">
                <a:solidFill>
                  <a:srgbClr val="18241C"/>
                </a:solidFill>
                <a:latin typeface="Helvetica Neue"/>
              </a:rPr>
              <a:t>Roadmaps </a:t>
            </a:r>
            <a:r>
              <a:rPr sz="1400" b="0">
                <a:solidFill>
                  <a:srgbClr val="18241C"/>
                </a:solidFill>
                <a:latin typeface="Helvetica Neue"/>
              </a:rPr>
              <a:t>set by vendors, not by the people turning wrenches.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514600"/>
            <a:ext cx="48920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00" b="1">
                <a:solidFill>
                  <a:srgbClr val="18241C"/>
                </a:solidFill>
                <a:latin typeface="Helvetica Neue"/>
              </a:rPr>
              <a:t>Open source. </a:t>
            </a:r>
            <a:r>
              <a:rPr sz="1400" b="0">
                <a:solidFill>
                  <a:srgbClr val="18241C"/>
                </a:solidFill>
                <a:latin typeface="Helvetica Neue"/>
              </a:rPr>
              <a:t>One deployable stack, your data in your own PostgreSQL.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00" b="1">
                <a:solidFill>
                  <a:srgbClr val="18241C"/>
                </a:solidFill>
                <a:latin typeface="Helvetica Neue"/>
              </a:rPr>
              <a:t>Every external dependency </a:t>
            </a:r>
            <a:r>
              <a:rPr sz="1400" b="0">
                <a:solidFill>
                  <a:srgbClr val="18241C"/>
                </a:solidFill>
                <a:latin typeface="Helvetica Neue"/>
              </a:rPr>
              <a:t>sits behind a provider interface — no vendor is required to read your own records.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40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00" b="1">
                <a:solidFill>
                  <a:srgbClr val="18241C"/>
                </a:solidFill>
                <a:latin typeface="Helvetica Neue"/>
              </a:rPr>
              <a:t>Ops-first, feedback-driven. </a:t>
            </a:r>
            <a:r>
              <a:rPr sz="1400" b="0">
                <a:solidFill>
                  <a:srgbClr val="18241C"/>
                </a:solidFill>
                <a:latin typeface="Helvetica Neue"/>
              </a:rPr>
              <a:t>The full customer-to-payment workflow ships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WHAT'S IN IT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The full customer-to-payment workflow, implemented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83080"/>
            <a:ext cx="3602736" cy="1481328"/>
          </a:xfrm>
          <a:prstGeom prst="roundRect">
            <a:avLst>
              <a:gd name="adj" fmla="val 9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47672"/>
            <a:ext cx="50292" cy="1152144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8241C"/>
                </a:solidFill>
                <a:latin typeface="Helvetica Neue"/>
              </a:rPr>
              <a:t>Work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95144"/>
            <a:ext cx="314553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10-state lifecycle enforced server-side, board view, canned jobs, tasks, time, quality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783080"/>
            <a:ext cx="3602736" cy="1481328"/>
          </a:xfrm>
          <a:prstGeom prst="roundRect">
            <a:avLst>
              <a:gd name="adj" fmla="val 9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1947672"/>
            <a:ext cx="50292" cy="1152144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96596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8241C"/>
                </a:solidFill>
                <a:latin typeface="Helvetica Neue"/>
              </a:rPr>
              <a:t>Estimating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295144"/>
            <a:ext cx="314553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Jobs with drag-and-drop lines, good/better/best options, immutable revisions, change orders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2" y="1783080"/>
            <a:ext cx="3602736" cy="1481328"/>
          </a:xfrm>
          <a:prstGeom prst="roundRect">
            <a:avLst>
              <a:gd name="adj" fmla="val 9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28432" y="1947672"/>
            <a:ext cx="50292" cy="1152144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65960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8241C"/>
                </a:solidFill>
                <a:latin typeface="Helvetica Neue"/>
              </a:rPr>
              <a:t>Authorization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295144"/>
            <a:ext cx="314553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Line-level approve/decline over signed expiring links, email, SMS, or staff-recorded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10712"/>
            <a:ext cx="3602736" cy="1481328"/>
          </a:xfrm>
          <a:prstGeom prst="roundRect">
            <a:avLst>
              <a:gd name="adj" fmla="val 9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75304"/>
            <a:ext cx="50292" cy="1152144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593592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8241C"/>
                </a:solidFill>
                <a:latin typeface="Helvetica Neue"/>
              </a:rPr>
              <a:t>Inspections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22776"/>
            <a:ext cx="314553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DVI templates with photos and video, flowing into estimates with evidence attached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410712"/>
            <a:ext cx="3602736" cy="1481328"/>
          </a:xfrm>
          <a:prstGeom prst="roundRect">
            <a:avLst>
              <a:gd name="adj" fmla="val 9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0" y="3575304"/>
            <a:ext cx="50292" cy="1152144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3593592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8241C"/>
                </a:solidFill>
                <a:latin typeface="Helvetica Neue"/>
              </a:rPr>
              <a:t>Parts &amp; inventory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3922776"/>
            <a:ext cx="314553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Suppliers, purpose-tracked orders, OE/aftermarket numbers, interchange, units, cores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3410712"/>
            <a:ext cx="3602736" cy="1481328"/>
          </a:xfrm>
          <a:prstGeom prst="roundRect">
            <a:avLst>
              <a:gd name="adj" fmla="val 9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2" y="3575304"/>
            <a:ext cx="50292" cy="1152144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3593592"/>
            <a:ext cx="314553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8241C"/>
                </a:solidFill>
                <a:latin typeface="Helvetica Neue"/>
              </a:rPr>
              <a:t>Billing &amp; payments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84464" y="3922776"/>
            <a:ext cx="3145536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Invoice series, AR aging, statements, BYO Stripe/Square/Adyen/Mollie/Mercado Pago/Razorpay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12064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F3017"/>
                </a:solidFill>
                <a:latin typeface="Helvetica Neue"/>
              </a:rPr>
              <a:t>644 integration tests</a:t>
            </a:r>
            <a:r>
              <a:rPr sz="1500" b="0">
                <a:solidFill>
                  <a:srgbClr val="18241C"/>
                </a:solidFill>
                <a:latin typeface="Helvetica Neue"/>
              </a:rPr>
              <a:t>  cover it all — including cross-tenant denial paths, money math as integer minor units, and immutable documents.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55778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65449"/>
                </a:solidFill>
                <a:latin typeface="Helvetica Neue"/>
              </a:rPr>
              <a:t>Everything in this deck is running today in the seeded demo (pnpm db:seed).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The whole shop on one 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2493111" y="1673352"/>
            <a:ext cx="7205472" cy="456514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k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407" y="1755648"/>
            <a:ext cx="7040880" cy="4400550"/>
          </a:xfrm>
          <a:prstGeom prst="rect">
            <a:avLst/>
          </a:prstGeom>
          <a:ln w="9525">
            <a:solidFill>
              <a:srgbClr val="D0CAB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77240" y="6357366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Live work across the shop</a:t>
            </a:r>
            <a:r>
              <a:rPr sz="1300" b="0">
                <a:solidFill>
                  <a:srgbClr val="465449"/>
                </a:solidFill>
                <a:latin typeface="Helvetica Neue"/>
              </a:rPr>
              <a:t>  —  kanban stages you can extend per organization, drag between columns, plus My day and schedule views.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Work orders that stay out of the 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1746504"/>
            <a:ext cx="7114032" cy="45079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ork-order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6949440" cy="4343400"/>
          </a:xfrm>
          <a:prstGeom prst="rect">
            <a:avLst/>
          </a:prstGeom>
          <a:ln w="9525">
            <a:solidFill>
              <a:srgbClr val="D0CAB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18120" y="1965960"/>
            <a:ext cx="3840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Six workflow tabs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— jobs &amp; estimate, parts, work &amp; time, inspections, money, activity.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Always-visible context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— customer · vehicle · status plus estimate / authorized / balance in the collapsible header.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Multi-RO workspace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— several repair orders open as tabs; the open set lives in the URL, so refresh restores exactly where you were.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Touch-first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— built for a tablet on the counter or a laptop at the bench.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ESTIMATING &amp; AUTHORIZATION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Estimates the way shops actually think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28800"/>
            <a:ext cx="5212080" cy="2880360"/>
          </a:xfrm>
          <a:prstGeom prst="roundRect">
            <a:avLst>
              <a:gd name="adj" fmla="val 6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828800"/>
            <a:ext cx="5212080" cy="457200"/>
          </a:xfrm>
          <a:prstGeom prst="roundRect">
            <a:avLst>
              <a:gd name="adj" fmla="val 6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2938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JOB ON THE ESTIMATE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" y="2468880"/>
            <a:ext cx="82296" cy="182880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32304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Front brakes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98064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49"/>
                </a:solidFill>
                <a:latin typeface="Helvetica Neue"/>
              </a:rPr>
              <a:t>   Rotors 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81528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49"/>
                </a:solidFill>
                <a:latin typeface="Helvetica Neue"/>
              </a:rPr>
              <a:t>   Ceramic pads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64992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49"/>
                </a:solidFill>
                <a:latin typeface="Helvetica Neue"/>
              </a:rPr>
              <a:t>   Labor 1.6 hr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" y="3685032"/>
            <a:ext cx="82296" cy="182880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48456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Tune-up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14216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49"/>
                </a:solidFill>
                <a:latin typeface="Helvetica Neue"/>
              </a:rPr>
              <a:t>   Spark plugs (4)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97680"/>
            <a:ext cx="4572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65449"/>
                </a:solidFill>
                <a:latin typeface="Helvetica Neue"/>
              </a:rPr>
              <a:t>   Labor 0.8 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4632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8241C"/>
                </a:solidFill>
                <a:latin typeface="Helvetica Neue"/>
              </a:rPr>
              <a:t>Group lines into jobs</a:t>
            </a:r>
            <a:r>
              <a:rPr sz="1400" b="0">
                <a:solidFill>
                  <a:srgbClr val="465449"/>
                </a:solidFill>
                <a:latin typeface="Helvetica Neue"/>
              </a:rPr>
              <a:t> — drag and drop lines between jobs, reorder jobs, rename inline. Grouping carries through to the authorization page and printed estimate with per-job subtotals.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5349240" cy="2880360"/>
          </a:xfrm>
          <a:prstGeom prst="roundRect">
            <a:avLst>
              <a:gd name="adj" fmla="val 6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63640" y="1828800"/>
            <a:ext cx="5349240" cy="457200"/>
          </a:xfrm>
          <a:prstGeom prst="roundRect">
            <a:avLst>
              <a:gd name="adj" fmla="val 6000"/>
            </a:avLst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1384" y="192938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CFAF6"/>
                </a:solidFill>
                <a:latin typeface="Helvetica Neue"/>
              </a:rPr>
              <a:t>OPTION GROUP — CUSTOMER PICKS ONE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9672" y="2487168"/>
            <a:ext cx="4846320" cy="786384"/>
          </a:xfrm>
          <a:prstGeom prst="roundRect">
            <a:avLst>
              <a:gd name="adj" fmla="val 12000"/>
            </a:avLst>
          </a:prstGeom>
          <a:solidFill>
            <a:srgbClr val="F7F2EA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59689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Standard oil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898648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5W-30 synthetic blend · 5 qt · filter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78440" y="270662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9F3017"/>
                </a:solidFill>
                <a:latin typeface="Helvetica Neue"/>
              </a:rPr>
              <a:t>$64.99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19672" y="3419856"/>
            <a:ext cx="4846320" cy="786384"/>
          </a:xfrm>
          <a:prstGeom prst="roundRect">
            <a:avLst>
              <a:gd name="adj" fmla="val 12000"/>
            </a:avLst>
          </a:prstGeom>
          <a:solidFill>
            <a:srgbClr val="F7F2EA"/>
          </a:solidFill>
          <a:ln w="25400">
            <a:solidFill>
              <a:srgbClr val="9F30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65976" y="36576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9F3017"/>
                </a:solidFill>
                <a:latin typeface="Helvetica Neue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3529584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Premium oil change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831336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Full synthetic · 5 qt · premium filter · 21-pt 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78440" y="3639312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9F3017"/>
                </a:solidFill>
                <a:latin typeface="Helvetica Neue"/>
              </a:rPr>
              <a:t>$94.99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9672" y="437083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— or “none of these options”, recorded explicitly.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846320"/>
            <a:ext cx="5349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8241C"/>
                </a:solidFill>
                <a:latin typeface="Helvetica Neue"/>
              </a:rPr>
              <a:t>Good / better / best, enforced</a:t>
            </a:r>
            <a:r>
              <a:rPr sz="1400" b="0">
                <a:solidFill>
                  <a:srgbClr val="465449"/>
                </a:solidFill>
                <a:latin typeface="Helvetica Neue"/>
              </a:rPr>
              <a:t> — the server allows a single choice per group, auto-declines the alternatives, and only the chosen option reaches the invoice. Estimates are immutable once presented: corrections are revisions or change orders, never silent edits.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Beyond the service bay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1746504"/>
            <a:ext cx="5605272" cy="3565017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ey-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5440680" cy="3400425"/>
          </a:xfrm>
          <a:prstGeom prst="rect">
            <a:avLst/>
          </a:prstGeom>
          <a:ln w="9525">
            <a:solidFill>
              <a:srgbClr val="D0CABE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6181344" y="1746504"/>
            <a:ext cx="5605272" cy="3565017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ads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440680" cy="3400425"/>
          </a:xfrm>
          <a:prstGeom prst="rect">
            <a:avLst/>
          </a:prstGeom>
          <a:ln w="9525">
            <a:solidFill>
              <a:srgbClr val="D0CAB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66928" y="5412105"/>
            <a:ext cx="5440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18241C"/>
                </a:solidFill>
                <a:latin typeface="Helvetica Neue"/>
              </a:rPr>
              <a:t>Key board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65449"/>
                </a:solidFill>
                <a:latin typeface="Helvetica Neue"/>
              </a:rPr>
              <a:t>Which tag goes with which job and where it lives right now — card grid with one-tap location chips, built for a wall-mounted tablet.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5412105"/>
            <a:ext cx="54406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18241C"/>
                </a:solidFill>
                <a:latin typeface="Helvetica Neue"/>
              </a:rPr>
              <a:t>Roadside dispatch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65449"/>
                </a:solidFill>
                <a:latin typeface="Helvetica Neue"/>
              </a:rPr>
              <a:t>Mobile service calls — jumpstarts, tire changes, lockouts — with a status board, tap-to-call, technician assignment, and geocoding/routing when a maps connector is configured.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8064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Also: </a:t>
            </a:r>
            <a:r>
              <a:rPr sz="1300" b="0">
                <a:solidFill>
                  <a:srgbClr val="465449"/>
                </a:solidFill>
                <a:latin typeface="Helvetica Neue"/>
              </a:rPr>
              <a:t>fleet vehicles with loaner checkouts and registration/insurance tracking · declined-work follow-up queue · pickup &amp; delivery.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PARTS &amp;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Auto-parts depth without a separate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" y="1746504"/>
            <a:ext cx="7114032" cy="45079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ven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28800"/>
            <a:ext cx="6949440" cy="4343400"/>
          </a:xfrm>
          <a:prstGeom prst="rect">
            <a:avLst/>
          </a:prstGeom>
          <a:ln w="9525">
            <a:solidFill>
              <a:srgbClr val="D0CABE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18120" y="1965960"/>
            <a:ext cx="38404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OE numbers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plus per-manufacturer aftermarket numbers and interchange lookup.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Purpose-tracked orders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— job-specific vs stock replenishment vs allocation, with a waiting-on-vendors board.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Real units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— quarts/gallons/drums with base-unit totals, cores, bin locations, photos.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3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350" b="1">
                <a:solidFill>
                  <a:srgbClr val="18241C"/>
                </a:solidFill>
                <a:latin typeface="Helvetica Neue"/>
              </a:rPr>
              <a:t>Reorder points</a:t>
            </a:r>
            <a:r>
              <a:rPr sz="1350" b="0">
                <a:solidFill>
                  <a:srgbClr val="18241C"/>
                </a:solidFill>
                <a:latin typeface="Helvetica Neue"/>
              </a:rPr>
              <a:t> with low-stock surfacing and reorder suggestions.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Boring where it counts,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74519"/>
            <a:ext cx="1106424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550" b="1">
                <a:solidFill>
                  <a:srgbClr val="18241C"/>
                </a:solidFill>
                <a:latin typeface="Helvetica Neue"/>
              </a:rPr>
              <a:t>Money is integer minor units</a:t>
            </a:r>
            <a:r>
              <a:rPr sz="1550" b="0">
                <a:solidFill>
                  <a:srgbClr val="18241C"/>
                </a:solidFill>
                <a:latin typeface="Helvetica Neue"/>
              </a:rPr>
              <a:t> plus an ISO currency code — never binary floating point. Zero-decimal currencies (JPY, CLP) handled correctly.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550" b="1">
                <a:solidFill>
                  <a:srgbClr val="18241C"/>
                </a:solidFill>
                <a:latin typeface="Helvetica Neue"/>
              </a:rPr>
              <a:t>Documents are history</a:t>
            </a:r>
            <a:r>
              <a:rPr sz="1550" b="0">
                <a:solidFill>
                  <a:srgbClr val="18241C"/>
                </a:solidFill>
                <a:latin typeface="Helvetica Neue"/>
              </a:rPr>
              <a:t> — presented estimates and issued invoices are immutable; corrections are explicit revisions and adjustments.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550" b="1">
                <a:solidFill>
                  <a:srgbClr val="18241C"/>
                </a:solidFill>
                <a:latin typeface="Helvetica Neue"/>
              </a:rPr>
              <a:t>Tenant isolation from the first query</a:t>
            </a:r>
            <a:r>
              <a:rPr sz="1550" b="0">
                <a:solidFill>
                  <a:srgbClr val="18241C"/>
                </a:solidFill>
                <a:latin typeface="Helvetica Neue"/>
              </a:rPr>
              <a:t> — every record carries its organization; location scoping and membership are rebuilt server-side on every request, with cross-tenant denial paths integration-tested.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5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550" b="1">
                <a:solidFill>
                  <a:srgbClr val="18241C"/>
                </a:solidFill>
                <a:latin typeface="Helvetica Neue"/>
              </a:rPr>
              <a:t>Better Auth throughout</a:t>
            </a:r>
            <a:r>
              <a:rPr sz="1550" b="0">
                <a:solidFill>
                  <a:srgbClr val="18241C"/>
                </a:solidFill>
                <a:latin typeface="Helvetica Neue"/>
              </a:rPr>
              <a:t> — email/password, magic link, MFA, passkeys, recovery. A separate MFA-gated platform plane (/platform) handles plans and entitlements.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48920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Next.js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00784" y="4892040"/>
            <a:ext cx="855878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React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4678" y="489204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PostgreSQL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18534" y="4892040"/>
            <a:ext cx="705916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Prisma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52466" y="4892040"/>
            <a:ext cx="1080820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Better 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1302" y="4892040"/>
            <a:ext cx="1530705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strict TypeScript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20023" y="4892040"/>
            <a:ext cx="1605686" cy="310896"/>
          </a:xfrm>
          <a:prstGeom prst="roundRect">
            <a:avLst>
              <a:gd name="adj" fmla="val 50000"/>
            </a:avLst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wrap="none"/>
          <a:lstStyle/>
          <a:p>
            <a:pPr algn="ctr"/>
            <a:r>
              <a:rPr sz="1200" b="1">
                <a:solidFill>
                  <a:srgbClr val="18241C"/>
                </a:solidFill>
                <a:latin typeface="Helvetica Neue"/>
              </a:rPr>
              <a:t>SaaS control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CONNECTORS — ADR 0008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Bring your own provider — or none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11064240" cy="6217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28800"/>
            <a:ext cx="1783080" cy="621792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Payments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901952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Stripe · Square · Adyen · Mollie · Mercado Pago · Razorpay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901952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payment links, in-app charges, refunds — cash/check always work without any processor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42032"/>
            <a:ext cx="11064240" cy="6217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2542032"/>
            <a:ext cx="1783080" cy="621792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2491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Maps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184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Google Maps · Azure Maps · Mapbox · AWS 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2615184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geocoding + routing for roadside dispatch; degrades gracefully without a key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11064240" cy="6217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255264"/>
            <a:ext cx="1783080" cy="621792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3438144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Video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6040" y="3328416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Mux or local 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328416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inspection and evidence video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968496"/>
            <a:ext cx="11064240" cy="6217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968496"/>
            <a:ext cx="1783080" cy="621792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151376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Storage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041648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S3-compatible object 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4041648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photos and documents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681728"/>
            <a:ext cx="11064240" cy="6217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4681728"/>
            <a:ext cx="1783080" cy="621792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86460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E-invoicing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4754880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Factur-X/ZUGFeRD · XRechnung · FatturaPA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754880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tamper-evident snapshots; clearance adapters are connector slots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394960"/>
            <a:ext cx="11064240" cy="621792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5394960"/>
            <a:ext cx="1783080" cy="621792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5577840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8241C"/>
                </a:solidFill>
                <a:latin typeface="Helvetica Neue"/>
              </a:rPr>
              <a:t>Email / SMS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5468112"/>
            <a:ext cx="4480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console adapter in dev · BYO provider in prod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468112"/>
            <a:ext cx="4297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authorization links and notifications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199632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F3017"/>
                </a:solidFill>
                <a:latin typeface="Helvetica Neue"/>
              </a:rPr>
              <a:t>Credentials are envelope-encrypted. No vendor is ever required to read your own data.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GET RUNNING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Try it in five minutes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828800"/>
            <a:ext cx="5577840" cy="658368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94944" y="1956816"/>
            <a:ext cx="402336" cy="402336"/>
          </a:xfrm>
          <a:prstGeom prst="ellipse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CFAF6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1975104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Clone &amp; install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52728" y="2212848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git clone …/ShopOS &amp;&amp; pnpm install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615184"/>
            <a:ext cx="5577840" cy="658368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944" y="2743200"/>
            <a:ext cx="402336" cy="402336"/>
          </a:xfrm>
          <a:prstGeom prst="ellipse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CFAF6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276148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Start 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2999232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docker compose up -d  (or any Postgres 16+)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401568"/>
            <a:ext cx="5577840" cy="658368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94944" y="3529584"/>
            <a:ext cx="402336" cy="402336"/>
          </a:xfrm>
          <a:prstGeom prst="ellipse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CFAF6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54787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Migrate &amp; seed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52728" y="3785616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pnpm db:migrate &amp;&amp; pnpm db:seed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87952"/>
            <a:ext cx="5577840" cy="658368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94944" y="4315968"/>
            <a:ext cx="402336" cy="402336"/>
          </a:xfrm>
          <a:prstGeom prst="ellipse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CFAF6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" y="433425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Run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4572000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pnpm dev  →  http://localhost:3000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974336"/>
            <a:ext cx="5577840" cy="658368"/>
          </a:xfrm>
          <a:prstGeom prst="rect">
            <a:avLst/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94944" y="5102352"/>
            <a:ext cx="402336" cy="402336"/>
          </a:xfrm>
          <a:prstGeom prst="ellipse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CFAF6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2728" y="51206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Sign 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52728" y="5358384"/>
            <a:ext cx="47548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65449"/>
                </a:solidFill>
                <a:latin typeface="Helvetica Neue"/>
              </a:rPr>
              <a:t>owner@example.test / demo-password-123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7960" y="182880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37960" y="1828800"/>
            <a:ext cx="5074920" cy="457200"/>
          </a:xfrm>
          <a:prstGeom prst="rect">
            <a:avLst/>
          </a:prstGeom>
          <a:solidFill>
            <a:srgbClr val="EDD0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75704" y="19293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SEEDED DEMO ACCOUNTS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5704" y="2468880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owner@example.test</a:t>
            </a:r>
            <a:r>
              <a:rPr sz="1150" b="1">
                <a:solidFill>
                  <a:srgbClr val="9F3017"/>
                </a:solidFill>
                <a:latin typeface="Helvetica Neue"/>
              </a:rPr>
              <a:t>   demo-password-123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75704" y="2715768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65449"/>
                </a:solidFill>
                <a:latin typeface="Helvetica Neue"/>
              </a:rPr>
              <a:t>Shop owner — full operations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75704" y="3127248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driver@example.test</a:t>
            </a:r>
            <a:r>
              <a:rPr sz="1150" b="1">
                <a:solidFill>
                  <a:srgbClr val="9F3017"/>
                </a:solidFill>
                <a:latin typeface="Helvetica Neue"/>
              </a:rPr>
              <a:t>   demo-password-123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75704" y="3374136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65449"/>
                </a:solidFill>
                <a:latin typeface="Helvetica Neue"/>
              </a:rPr>
              <a:t>Customer portal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75704" y="3785616"/>
            <a:ext cx="4663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8241C"/>
                </a:solidFill>
                <a:latin typeface="Helvetica Neue"/>
              </a:rPr>
              <a:t>maria@example.test</a:t>
            </a:r>
            <a:r>
              <a:rPr sz="1150" b="1">
                <a:solidFill>
                  <a:srgbClr val="9F3017"/>
                </a:solidFill>
                <a:latin typeface="Helvetica Neue"/>
              </a:rPr>
              <a:t>   magic link → console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75704" y="4032504"/>
            <a:ext cx="4663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65449"/>
                </a:solidFill>
                <a:latin typeface="Helvetica Neue"/>
              </a:rPr>
              <a:t>Magic-link sign-in (prints to terminal in dev)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9436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Self-hosting is the product, not an afterthought: </a:t>
            </a:r>
            <a:r>
              <a:rPr sz="1350" b="0">
                <a:solidFill>
                  <a:srgbClr val="465449"/>
                </a:solidFill>
                <a:latin typeface="Helvetica Neue"/>
              </a:rPr>
              <a:t>one deployable stack, your PostgreSQL, demo data that exercises every workflow.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WHAT WE NEED FROM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8241C"/>
                </a:solidFill>
                <a:latin typeface="Helvetica Neue"/>
              </a:rPr>
              <a:t>This release exists to collect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6675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50" b="1">
                <a:solidFill>
                  <a:srgbClr val="18241C"/>
                </a:solidFill>
                <a:latin typeface="Helvetica Neue"/>
              </a:rPr>
              <a:t>Does the workflow fit your shop?</a:t>
            </a:r>
            <a:r>
              <a:rPr sz="1450" b="0">
                <a:solidFill>
                  <a:srgbClr val="18241C"/>
                </a:solidFill>
                <a:latin typeface="Helvetica Neue"/>
              </a:rPr>
              <a:t>You know the counter, the bench, and the parts run. Tell us where ShopOS fights the way you actually work.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50" b="1">
                <a:solidFill>
                  <a:srgbClr val="18241C"/>
                </a:solidFill>
                <a:latin typeface="Helvetica Neue"/>
              </a:rPr>
              <a:t>What's missing before it's daily-drivable?</a:t>
            </a:r>
            <a:r>
              <a:rPr sz="1450" b="0">
                <a:solidFill>
                  <a:srgbClr val="18241C"/>
                </a:solidFill>
                <a:latin typeface="Helvetica Neue"/>
              </a:rPr>
              <a:t>Parts ordering realities, tax shapes, inspection patterns, payment habits — the unglamorous bits.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450" b="1">
                <a:solidFill>
                  <a:srgbClr val="9F3017"/>
                </a:solidFill>
                <a:latin typeface="Helvetica Neue"/>
              </a:rPr>
              <a:t>▸  </a:t>
            </a:r>
            <a:r>
              <a:rPr sz="1450" b="1">
                <a:solidFill>
                  <a:srgbClr val="18241C"/>
                </a:solidFill>
                <a:latin typeface="Helvetica Neue"/>
              </a:rPr>
              <a:t>Where should the API go first?</a:t>
            </a:r>
            <a:r>
              <a:rPr sz="1450" b="0">
                <a:solidFill>
                  <a:srgbClr val="18241C"/>
                </a:solidFill>
                <a:latin typeface="Helvetica Neue"/>
              </a:rPr>
              <a:t>The domain model is deliberate; the public API surface is still young and shaped best by early users.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1828800"/>
            <a:ext cx="4114800" cy="2651760"/>
          </a:xfrm>
          <a:prstGeom prst="roundRect">
            <a:avLst>
              <a:gd name="adj" fmla="val 6000"/>
            </a:avLst>
          </a:prstGeom>
          <a:solidFill>
            <a:srgbClr val="FDFBF6"/>
          </a:solidFill>
          <a:ln w="12700">
            <a:solidFill>
              <a:srgbClr val="D0CA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98079" y="1828800"/>
            <a:ext cx="4114800" cy="457200"/>
          </a:xfrm>
          <a:prstGeom prst="rect">
            <a:avLst/>
          </a:prstGeom>
          <a:solidFill>
            <a:srgbClr val="9F30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35823" y="19293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CFAF6"/>
                </a:solidFill>
                <a:latin typeface="Helvetica Neue"/>
              </a:rPr>
              <a:t>WHERE TO TALK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35823" y="2487168"/>
            <a:ext cx="3657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GitHub Discussions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for questions, workflows, and show-and-tell</a:t>
            </a:r>
          </a:p>
          <a:p>
            <a:pPr algn="l">
              <a:lnSpc>
                <a:spcPct val="115000"/>
              </a:lnSpc>
            </a:pPr>
            <a:r>
              <a:rPr sz="600" b="0">
                <a:solidFill>
                  <a:srgbClr val="18241C"/>
                </a:solidFill>
                <a:latin typeface="Helvetica Neue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50" b="1">
                <a:solidFill>
                  <a:srgbClr val="18241C"/>
                </a:solidFill>
                <a:latin typeface="Helvetica Neue"/>
              </a:rPr>
              <a:t>GitHub Issues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465449"/>
                </a:solidFill>
                <a:latin typeface="Helvetica Neue"/>
              </a:rPr>
              <a:t>for anything reproducible — bug reports come with regression tests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5823" y="388620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9F3017"/>
                </a:solidFill>
                <a:latin typeface="Helvetica Neue"/>
              </a:rPr>
              <a:t>github.com/JayQuattro/ShopOS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70916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9F3017"/>
                </a:solidFill>
                <a:latin typeface="Helvetica Neue"/>
              </a:rPr>
              <a:t>KEPT HONEST — NOT SHIPPED YET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029200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465449"/>
                </a:solidFill>
                <a:latin typeface="Helvetica Neue"/>
              </a:rPr>
              <a:t>SSO/SAML federation for customer organizations · production email delivery adapters · native mobile apps (the web UI is tablet-first) · support access/impersonation · locale-prefixed UI routing · license selection (a governance decision we're making with the community, not before it).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ShopOS · open-source launch preview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55664"/>
            <a:ext cx="502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465449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