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64008" cy="6858000"/>
          </a:xfrm>
          <a:prstGeom prst="rect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18241C"/>
                </a:solidFill>
                <a:latin typeface="Helvetica Neue"/>
              </a:rPr>
              <a:t>ShopOS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465449"/>
                </a:solidFill>
                <a:latin typeface="Helvetica Neue"/>
              </a:rPr>
              <a:t>Open-source shop operations for repair, maintenance, fabrication —</a:t>
            </a:r>
          </a:p>
          <a:p>
            <a:pPr algn="l">
              <a:lnSpc>
                <a:spcPct val="125000"/>
              </a:lnSpc>
            </a:pPr>
            <a:r>
              <a:rPr sz="2200" b="0">
                <a:solidFill>
                  <a:srgbClr val="465449"/>
                </a:solidFill>
                <a:latin typeface="Helvetica Neue"/>
              </a:rPr>
              <a:t>and any business that services customer-owned assets.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8241C"/>
                </a:solidFill>
                <a:latin typeface="Helvetica Neue"/>
              </a:rPr>
              <a:t>Automotive-first, deliberately general:  </a:t>
            </a:r>
            <a:r>
              <a:rPr sz="1500" b="1">
                <a:solidFill>
                  <a:srgbClr val="9F3017"/>
                </a:solidFill>
                <a:latin typeface="Helvetica Neue"/>
              </a:rPr>
              <a:t>customers · assets · work orders · estimates · parts · invoices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029200"/>
            <a:ext cx="3108960" cy="18288"/>
          </a:xfrm>
          <a:prstGeom prst="rect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8241C"/>
                </a:solidFill>
                <a:latin typeface="Helvetica Neue"/>
              </a:rPr>
              <a:t>github.com/JayQuattro/ShopOS</a:t>
            </a:r>
            <a:r>
              <a:rPr sz="1400" b="0">
                <a:solidFill>
                  <a:srgbClr val="465449"/>
                </a:solidFill>
                <a:latin typeface="Helvetica Neue"/>
              </a:rPr>
              <a:t>    ·    self-hostable    ·    no crippled community edition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65449"/>
                </a:solidFill>
                <a:latin typeface="Helvetica Neue"/>
              </a:rPr>
              <a:t>Co-created by a human builder and Z.AI GLM-5.2 &amp; GLM-5.3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WHY THIS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8241C"/>
                </a:solidFill>
                <a:latin typeface="Helvetica Neue"/>
              </a:rPr>
              <a:t>Shop management software shouldn't own your 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37360"/>
            <a:ext cx="5440680" cy="4114800"/>
          </a:xfrm>
          <a:prstGeom prst="rect">
            <a:avLst/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3640" y="1737360"/>
            <a:ext cx="5440680" cy="4114800"/>
          </a:xfrm>
          <a:prstGeom prst="rect">
            <a:avLst/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5440680" cy="475488"/>
          </a:xfrm>
          <a:prstGeom prst="rect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737360"/>
            <a:ext cx="5440680" cy="475488"/>
          </a:xfrm>
          <a:prstGeom prst="rect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847088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THE INDUSTRY 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847088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CFAF6"/>
                </a:solidFill>
                <a:latin typeface="Helvetica Neue"/>
              </a:rPr>
              <a:t>SHOPOS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487168"/>
            <a:ext cx="4892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8241C"/>
                </a:solidFill>
                <a:latin typeface="Helvetica Neue"/>
              </a:rPr>
              <a:t>Closed ecosystems. </a:t>
            </a:r>
            <a:r>
              <a:rPr sz="1400" b="0">
                <a:solidFill>
                  <a:srgbClr val="18241C"/>
                </a:solidFill>
                <a:latin typeface="Helvetica Neue"/>
              </a:rPr>
              <a:t>Your records live in someone else's cloud; export is an afterthought.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8241C"/>
                </a:solidFill>
                <a:latin typeface="Helvetica Neue"/>
              </a:rPr>
              <a:t>Per-seat pricing </a:t>
            </a:r>
            <a:r>
              <a:rPr sz="1400" b="0">
                <a:solidFill>
                  <a:srgbClr val="18241C"/>
                </a:solidFill>
                <a:latin typeface="Helvetica Neue"/>
              </a:rPr>
              <a:t>that climbs as the shop grows.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8241C"/>
                </a:solidFill>
                <a:latin typeface="Helvetica Neue"/>
              </a:rPr>
              <a:t>Roadmaps </a:t>
            </a:r>
            <a:r>
              <a:rPr sz="1400" b="0">
                <a:solidFill>
                  <a:srgbClr val="18241C"/>
                </a:solidFill>
                <a:latin typeface="Helvetica Neue"/>
              </a:rPr>
              <a:t>set by vendors, not by the people turning wrenches.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87168"/>
            <a:ext cx="4892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8241C"/>
                </a:solidFill>
                <a:latin typeface="Helvetica Neue"/>
              </a:rPr>
              <a:t>Open source. </a:t>
            </a:r>
            <a:r>
              <a:rPr sz="1400" b="0">
                <a:solidFill>
                  <a:srgbClr val="18241C"/>
                </a:solidFill>
                <a:latin typeface="Helvetica Neue"/>
              </a:rPr>
              <a:t>One deployable stack, your data in your own PostgreSQL.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8241C"/>
                </a:solidFill>
                <a:latin typeface="Helvetica Neue"/>
              </a:rPr>
              <a:t>Every external dependency </a:t>
            </a:r>
            <a:r>
              <a:rPr sz="1400" b="0">
                <a:solidFill>
                  <a:srgbClr val="18241C"/>
                </a:solidFill>
                <a:latin typeface="Helvetica Neue"/>
              </a:rPr>
              <a:t>sits behind a provider interface — no vendor is required to read your own records.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8241C"/>
                </a:solidFill>
                <a:latin typeface="Helvetica Neue"/>
              </a:rPr>
              <a:t>Ops-first, feedback-driven. </a:t>
            </a:r>
            <a:r>
              <a:rPr sz="1400" b="0">
                <a:solidFill>
                  <a:srgbClr val="18241C"/>
                </a:solidFill>
                <a:latin typeface="Helvetica Neue"/>
              </a:rPr>
              <a:t>The full customer-to-payment workflow ships today.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8241C"/>
                </a:solidFill>
                <a:latin typeface="Helvetica Neue"/>
              </a:rPr>
              <a:t>Product promise: </a:t>
            </a:r>
            <a:r>
              <a:rPr sz="1350" b="0">
                <a:solidFill>
                  <a:srgbClr val="465449"/>
                </a:solidFill>
                <a:latin typeface="Helvetica Neue"/>
              </a:rPr>
              <a:t>approachable for a small independent shop, structured enough for multi-location — managed SaaS and genuine self-hosting from the same codebase.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49"/>
                </a:solidFill>
                <a:latin typeface="Helvetica Neue"/>
              </a:rPr>
              <a:t>ShopOS · open-source launch preview · 2026 · Co-created by a human builder and Z.AI GLM-5.2 &amp; GLM-5.3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65449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WHAT'S IN IT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8241C"/>
                </a:solidFill>
                <a:latin typeface="Helvetica Neue"/>
              </a:rPr>
              <a:t>The full customer-to-payment workflow, implemented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3602736" cy="1417320"/>
          </a:xfrm>
          <a:prstGeom prst="roundRect">
            <a:avLst>
              <a:gd name="adj" fmla="val 9000"/>
            </a:avLst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83664"/>
            <a:ext cx="50292" cy="1124712"/>
          </a:xfrm>
          <a:prstGeom prst="rect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92808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8241C"/>
                </a:solidFill>
                <a:latin typeface="Helvetica Neue"/>
              </a:rPr>
              <a:t>Work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3145536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65449"/>
                </a:solidFill>
                <a:latin typeface="Helvetica Neue"/>
              </a:rPr>
              <a:t>10-state lifecycle enforced server-side, board view, canned jobs, tasks, time, quality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3602736" cy="1417320"/>
          </a:xfrm>
          <a:prstGeom prst="roundRect">
            <a:avLst>
              <a:gd name="adj" fmla="val 9000"/>
            </a:avLst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883664"/>
            <a:ext cx="50292" cy="1124712"/>
          </a:xfrm>
          <a:prstGeom prst="rect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92808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8241C"/>
                </a:solidFill>
                <a:latin typeface="Helvetica Neue"/>
              </a:rPr>
              <a:t>Estimating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12848"/>
            <a:ext cx="3145536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65449"/>
                </a:solidFill>
                <a:latin typeface="Helvetica Neue"/>
              </a:rPr>
              <a:t>Jobs with drag-and-drop lines, good/better/best options, immutable revisions, change orders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737360"/>
            <a:ext cx="3602736" cy="1417320"/>
          </a:xfrm>
          <a:prstGeom prst="roundRect">
            <a:avLst>
              <a:gd name="adj" fmla="val 9000"/>
            </a:avLst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2" y="1883664"/>
            <a:ext cx="50292" cy="1124712"/>
          </a:xfrm>
          <a:prstGeom prst="rect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892808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8241C"/>
                </a:solidFill>
                <a:latin typeface="Helvetica Neue"/>
              </a:rPr>
              <a:t>Authorization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212848"/>
            <a:ext cx="3145536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65449"/>
                </a:solidFill>
                <a:latin typeface="Helvetica Neue"/>
              </a:rPr>
              <a:t>Line-level approve/decline via signed expiring links, email, SMS, or staff recording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291840"/>
            <a:ext cx="3602736" cy="1417320"/>
          </a:xfrm>
          <a:prstGeom prst="roundRect">
            <a:avLst>
              <a:gd name="adj" fmla="val 9000"/>
            </a:avLst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438144"/>
            <a:ext cx="50292" cy="1124712"/>
          </a:xfrm>
          <a:prstGeom prst="rect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447288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8241C"/>
                </a:solidFill>
                <a:latin typeface="Helvetica Neue"/>
              </a:rPr>
              <a:t>Inspections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67328"/>
            <a:ext cx="3145536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65449"/>
                </a:solidFill>
                <a:latin typeface="Helvetica Neue"/>
              </a:rPr>
              <a:t>DVI templates with photos and video, flowing into estimates with evidence attached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291840"/>
            <a:ext cx="3602736" cy="1417320"/>
          </a:xfrm>
          <a:prstGeom prst="roundRect">
            <a:avLst>
              <a:gd name="adj" fmla="val 9000"/>
            </a:avLst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438144"/>
            <a:ext cx="50292" cy="1124712"/>
          </a:xfrm>
          <a:prstGeom prst="rect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447288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8241C"/>
                </a:solidFill>
                <a:latin typeface="Helvetica Neue"/>
              </a:rPr>
              <a:t>Parts &amp; inventory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767328"/>
            <a:ext cx="3145536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65449"/>
                </a:solidFill>
                <a:latin typeface="Helvetica Neue"/>
              </a:rPr>
              <a:t>Suppliers, purpose-tracked orders, OE/aftermarket numbers, interchange, units, cores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2" y="3291840"/>
            <a:ext cx="3602736" cy="1417320"/>
          </a:xfrm>
          <a:prstGeom prst="roundRect">
            <a:avLst>
              <a:gd name="adj" fmla="val 9000"/>
            </a:avLst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2" y="3438144"/>
            <a:ext cx="50292" cy="1124712"/>
          </a:xfrm>
          <a:prstGeom prst="rect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4" y="3447288"/>
            <a:ext cx="3145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8241C"/>
                </a:solidFill>
                <a:latin typeface="Helvetica Neue"/>
              </a:rPr>
              <a:t>Billing &amp; payments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3767328"/>
            <a:ext cx="3145536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465449"/>
                </a:solidFill>
                <a:latin typeface="Helvetica Neue"/>
              </a:rPr>
              <a:t>Invoice series, AR aging, statements, BYO Stripe/Square/Adyen/Mollie/Mercado Pago/Razorpay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02920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9F3017"/>
                </a:solidFill>
                <a:latin typeface="Helvetica Neue"/>
              </a:rPr>
              <a:t>644 integration tests</a:t>
            </a:r>
            <a:r>
              <a:rPr sz="1500" b="0">
                <a:solidFill>
                  <a:srgbClr val="18241C"/>
                </a:solidFill>
                <a:latin typeface="Helvetica Neue"/>
              </a:rPr>
              <a:t>  cover it — cross-tenant denial paths, money as integer minor units, immutable documents.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4864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65449"/>
                </a:solidFill>
                <a:latin typeface="Helvetica Neue"/>
              </a:rPr>
              <a:t>Everything in this deck runs today in the seeded demo (pnpm db:seed).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49"/>
                </a:solidFill>
                <a:latin typeface="Helvetica Neue"/>
              </a:rPr>
              <a:t>ShopOS · open-source launch preview · 2026 · Co-created by a human builder and Z.AI GLM-5.2 &amp; GLM-5.3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65449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WORK 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8241C"/>
                </a:solidFill>
                <a:latin typeface="Helvetica Neue"/>
              </a:rPr>
              <a:t>A lifecycle enforced by the server, not by convention</a:t>
            </a:r>
          </a:p>
        </p:txBody>
      </p:sp>
      <p:sp>
        <p:nvSpPr>
          <p:cNvPr id="5" name="Chevron 4"/>
          <p:cNvSpPr/>
          <p:nvPr/>
        </p:nvSpPr>
        <p:spPr>
          <a:xfrm>
            <a:off x="566928" y="1783080"/>
            <a:ext cx="1344168" cy="475488"/>
          </a:xfrm>
          <a:prstGeom prst="chevron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50" b="1">
                <a:solidFill>
                  <a:srgbClr val="18241C"/>
                </a:solidFill>
                <a:latin typeface="Helvetica Neue"/>
              </a:rPr>
              <a:t>Draft</a:t>
            </a:r>
          </a:p>
        </p:txBody>
      </p:sp>
      <p:sp>
        <p:nvSpPr>
          <p:cNvPr id="6" name="Chevron 5"/>
          <p:cNvSpPr/>
          <p:nvPr/>
        </p:nvSpPr>
        <p:spPr>
          <a:xfrm>
            <a:off x="1801368" y="1783080"/>
            <a:ext cx="1344168" cy="475488"/>
          </a:xfrm>
          <a:prstGeom prst="chevron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50" b="1">
                <a:solidFill>
                  <a:srgbClr val="18241C"/>
                </a:solidFill>
                <a:latin typeface="Helvetica Neue"/>
              </a:rPr>
              <a:t>Estimating</a:t>
            </a:r>
          </a:p>
        </p:txBody>
      </p:sp>
      <p:sp>
        <p:nvSpPr>
          <p:cNvPr id="7" name="Chevron 6"/>
          <p:cNvSpPr/>
          <p:nvPr/>
        </p:nvSpPr>
        <p:spPr>
          <a:xfrm>
            <a:off x="3035808" y="1783080"/>
            <a:ext cx="1344168" cy="475488"/>
          </a:xfrm>
          <a:prstGeom prst="chevron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50" b="1">
                <a:solidFill>
                  <a:srgbClr val="18241C"/>
                </a:solidFill>
                <a:latin typeface="Helvetica Neue"/>
              </a:rPr>
              <a:t>Awaiting auth</a:t>
            </a:r>
          </a:p>
        </p:txBody>
      </p:sp>
      <p:sp>
        <p:nvSpPr>
          <p:cNvPr id="8" name="Chevron 7"/>
          <p:cNvSpPr/>
          <p:nvPr/>
        </p:nvSpPr>
        <p:spPr>
          <a:xfrm>
            <a:off x="4270248" y="1783080"/>
            <a:ext cx="1344168" cy="475488"/>
          </a:xfrm>
          <a:prstGeom prst="chevron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50" b="1">
                <a:solidFill>
                  <a:srgbClr val="FCFAF6"/>
                </a:solidFill>
                <a:latin typeface="Helvetica Neue"/>
              </a:rPr>
              <a:t>Authorized</a:t>
            </a:r>
          </a:p>
        </p:txBody>
      </p:sp>
      <p:sp>
        <p:nvSpPr>
          <p:cNvPr id="9" name="Chevron 8"/>
          <p:cNvSpPr/>
          <p:nvPr/>
        </p:nvSpPr>
        <p:spPr>
          <a:xfrm>
            <a:off x="5504688" y="1783080"/>
            <a:ext cx="1344168" cy="475488"/>
          </a:xfrm>
          <a:prstGeom prst="chevron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50" b="1">
                <a:solidFill>
                  <a:srgbClr val="FCFAF6"/>
                </a:solidFill>
                <a:latin typeface="Helvetica Neue"/>
              </a:rPr>
              <a:t>In progress</a:t>
            </a:r>
          </a:p>
        </p:txBody>
      </p:sp>
      <p:sp>
        <p:nvSpPr>
          <p:cNvPr id="10" name="Chevron 9"/>
          <p:cNvSpPr/>
          <p:nvPr/>
        </p:nvSpPr>
        <p:spPr>
          <a:xfrm>
            <a:off x="6739128" y="1783080"/>
            <a:ext cx="1344168" cy="475488"/>
          </a:xfrm>
          <a:prstGeom prst="chevron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50" b="1">
                <a:solidFill>
                  <a:srgbClr val="18241C"/>
                </a:solidFill>
                <a:latin typeface="Helvetica Neue"/>
              </a:rPr>
              <a:t>Completed</a:t>
            </a:r>
          </a:p>
        </p:txBody>
      </p:sp>
      <p:sp>
        <p:nvSpPr>
          <p:cNvPr id="11" name="Chevron 10"/>
          <p:cNvSpPr/>
          <p:nvPr/>
        </p:nvSpPr>
        <p:spPr>
          <a:xfrm>
            <a:off x="7973568" y="1783080"/>
            <a:ext cx="1344168" cy="475488"/>
          </a:xfrm>
          <a:prstGeom prst="chevron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50" b="1">
                <a:solidFill>
                  <a:srgbClr val="18241C"/>
                </a:solidFill>
                <a:latin typeface="Helvetica Neue"/>
              </a:rPr>
              <a:t>Invoiced</a:t>
            </a:r>
          </a:p>
        </p:txBody>
      </p:sp>
      <p:sp>
        <p:nvSpPr>
          <p:cNvPr id="12" name="Chevron 11"/>
          <p:cNvSpPr/>
          <p:nvPr/>
        </p:nvSpPr>
        <p:spPr>
          <a:xfrm>
            <a:off x="9208008" y="1783080"/>
            <a:ext cx="1344168" cy="475488"/>
          </a:xfrm>
          <a:prstGeom prst="chevron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50" b="1">
                <a:solidFill>
                  <a:srgbClr val="18241C"/>
                </a:solidFill>
                <a:latin typeface="Helvetica Neue"/>
              </a:rPr>
              <a:t>Closed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37744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65449"/>
                </a:solidFill>
                <a:latin typeface="Helvetica Neue"/>
              </a:rPr>
              <a:t>…with blocked and cancelled branches, and illegal transitions rejected server-side.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880360"/>
            <a:ext cx="5669280" cy="3904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Everything on one RO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— customer concern, assets, assignments with assisting techs, shop stage, bay, key tag.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Canned jobs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apply reusable service templates to an estimate in one click.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Tasks, labor time, quality checks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with technician attribution and location time zones.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80360"/>
            <a:ext cx="5120640" cy="3904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Refresh-safe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— drafts survive a reload; the open RO set lives in the URL.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Activity history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on every record, plus an explicit declined-work follow-up queue.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Sublet work 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tracked alongside parts on the work order.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49"/>
                </a:solidFill>
                <a:latin typeface="Helvetica Neue"/>
              </a:rPr>
              <a:t>ShopOS · open-source launch preview · 2026 · Co-created by a human builder and Z.AI GLM-5.2 &amp; GLM-5.3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65449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8241C"/>
                </a:solidFill>
                <a:latin typeface="Helvetica Neue"/>
              </a:rPr>
              <a:t>The whole shop on one 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414016" y="1709928"/>
            <a:ext cx="7187184" cy="4546854"/>
          </a:xfrm>
          <a:prstGeom prst="rect">
            <a:avLst/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ork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1783080"/>
            <a:ext cx="7040880" cy="4400550"/>
          </a:xfrm>
          <a:prstGeom prst="rect">
            <a:avLst/>
          </a:prstGeom>
          <a:ln w="9525">
            <a:solidFill>
              <a:srgbClr val="D0CABE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77240" y="638479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Live work across the shop</a:t>
            </a:r>
            <a:r>
              <a:rPr sz="1300" b="0">
                <a:solidFill>
                  <a:srgbClr val="465449"/>
                </a:solidFill>
                <a:latin typeface="Helvetica Neue"/>
              </a:rPr>
              <a:t>  —  kanban stages you can extend per organization, drag between columns, plus My day and schedule views.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49"/>
                </a:solidFill>
                <a:latin typeface="Helvetica Neue"/>
              </a:rPr>
              <a:t>ShopOS · open-source launch preview · 2026 · Co-created by a human builder and Z.AI GLM-5.2 &amp; GLM-5.3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65449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8241C"/>
                </a:solidFill>
                <a:latin typeface="Helvetica Neue"/>
              </a:rPr>
              <a:t>Work orders that stay out of the 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" y="1709928"/>
            <a:ext cx="7004304" cy="4432554"/>
          </a:xfrm>
          <a:prstGeom prst="rect">
            <a:avLst/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ork-order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6858000" cy="4286250"/>
          </a:xfrm>
          <a:prstGeom prst="rect">
            <a:avLst/>
          </a:prstGeom>
          <a:ln w="9525">
            <a:solidFill>
              <a:srgbClr val="D0CABE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726679" y="1920240"/>
            <a:ext cx="39319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8241C"/>
                </a:solidFill>
                <a:latin typeface="Helvetica Neue"/>
              </a:rPr>
              <a:t>Six workflow tabs</a:t>
            </a:r>
            <a:r>
              <a:rPr sz="1300" b="0">
                <a:solidFill>
                  <a:srgbClr val="18241C"/>
                </a:solidFill>
                <a:latin typeface="Helvetica Neue"/>
              </a:rPr>
              <a:t> — jobs &amp; estimate, parts, work &amp; time, inspections, money, activity.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8241C"/>
                </a:solidFill>
                <a:latin typeface="Helvetica Neue"/>
              </a:rPr>
              <a:t>Always-visible context</a:t>
            </a:r>
            <a:r>
              <a:rPr sz="1300" b="0">
                <a:solidFill>
                  <a:srgbClr val="18241C"/>
                </a:solidFill>
                <a:latin typeface="Helvetica Neue"/>
              </a:rPr>
              <a:t> — customer · vehicle · status plus estimate / authorized / balance in the collapsible header.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8241C"/>
                </a:solidFill>
                <a:latin typeface="Helvetica Neue"/>
              </a:rPr>
              <a:t>Multi-RO workspace</a:t>
            </a:r>
            <a:r>
              <a:rPr sz="1300" b="0">
                <a:solidFill>
                  <a:srgbClr val="18241C"/>
                </a:solidFill>
                <a:latin typeface="Helvetica Neue"/>
              </a:rPr>
              <a:t> — several repair orders open as tabs; the set lives in the URL, refresh restores it.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8241C"/>
                </a:solidFill>
                <a:latin typeface="Helvetica Neue"/>
              </a:rPr>
              <a:t>Touch-first</a:t>
            </a:r>
            <a:r>
              <a:rPr sz="1300" b="0">
                <a:solidFill>
                  <a:srgbClr val="18241C"/>
                </a:solidFill>
                <a:latin typeface="Helvetica Neue"/>
              </a:rPr>
              <a:t> — built for a tablet on the counter or a laptop at the bench.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49"/>
                </a:solidFill>
                <a:latin typeface="Helvetica Neue"/>
              </a:rPr>
              <a:t>ShopOS · open-source launch preview · 2026 · Co-created by a human builder and Z.AI GLM-5.2 &amp; GLM-5.3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65449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ESTIMATING &amp; 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8241C"/>
                </a:solidFill>
                <a:latin typeface="Helvetica Neue"/>
              </a:rPr>
              <a:t>Estimates the way shops actually think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5212080" cy="2834640"/>
          </a:xfrm>
          <a:prstGeom prst="roundRect">
            <a:avLst>
              <a:gd name="adj" fmla="val 6000"/>
            </a:avLst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5212080" cy="457200"/>
          </a:xfrm>
          <a:prstGeom prst="rect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8366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241C"/>
                </a:solidFill>
                <a:latin typeface="Helvetica Neue"/>
              </a:rPr>
              <a:t>JOB ON THE ESTIMATE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2395728"/>
            <a:ext cx="82296" cy="182880"/>
          </a:xfrm>
          <a:prstGeom prst="rect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68296"/>
            <a:ext cx="4572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Front brakes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1576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65449"/>
                </a:solidFill>
                <a:latin typeface="Helvetica Neue"/>
              </a:rPr>
              <a:t>   Rotors (2)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9008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65449"/>
                </a:solidFill>
                <a:latin typeface="Helvetica Neue"/>
              </a:rPr>
              <a:t>   Ceramic pads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6440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65449"/>
                </a:solidFill>
                <a:latin typeface="Helvetica Neue"/>
              </a:rPr>
              <a:t>   Labor 1.6 hr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566160"/>
            <a:ext cx="82296" cy="182880"/>
          </a:xfrm>
          <a:prstGeom prst="rect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38728"/>
            <a:ext cx="4572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Tune-up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8620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65449"/>
                </a:solidFill>
                <a:latin typeface="Helvetica Neue"/>
              </a:rPr>
              <a:t>   Spark plugs (4)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65449"/>
                </a:solidFill>
                <a:latin typeface="Helvetica Neue"/>
              </a:rPr>
              <a:t>   Labor 0.8 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754880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8241C"/>
                </a:solidFill>
                <a:latin typeface="Helvetica Neue"/>
              </a:rPr>
              <a:t>Group lines into jobs</a:t>
            </a:r>
            <a:r>
              <a:rPr sz="1350" b="0">
                <a:solidFill>
                  <a:srgbClr val="465449"/>
                </a:solidFill>
                <a:latin typeface="Helvetica Neue"/>
              </a:rPr>
              <a:t> — drag and drop lines between jobs, reorder, rename inline. Grouping carries through to the authorization page and print with per-job subtotals.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783080"/>
            <a:ext cx="5349240" cy="2834640"/>
          </a:xfrm>
          <a:prstGeom prst="roundRect">
            <a:avLst>
              <a:gd name="adj" fmla="val 6000"/>
            </a:avLst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783080"/>
            <a:ext cx="5349240" cy="457200"/>
          </a:xfrm>
          <a:prstGeom prst="rect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1384" y="188366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CFAF6"/>
                </a:solidFill>
                <a:latin typeface="Helvetica Neue"/>
              </a:rPr>
              <a:t>OPTION GROUP — CUSTOMER PICKS 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9672" y="2404872"/>
            <a:ext cx="4846320" cy="768096"/>
          </a:xfrm>
          <a:prstGeom prst="roundRect">
            <a:avLst>
              <a:gd name="adj" fmla="val 12000"/>
            </a:avLst>
          </a:prstGeom>
          <a:solidFill>
            <a:srgbClr val="F7F2EA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25054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Standard oil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80720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65449"/>
                </a:solidFill>
                <a:latin typeface="Helvetica Neue"/>
              </a:rPr>
              <a:t>5W-30 synthetic blend · 5 qt ·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2615184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9F3017"/>
                </a:solidFill>
                <a:latin typeface="Helvetica Neue"/>
              </a:rPr>
              <a:t>$64.99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19672" y="3319272"/>
            <a:ext cx="4846320" cy="768096"/>
          </a:xfrm>
          <a:prstGeom prst="roundRect">
            <a:avLst>
              <a:gd name="adj" fmla="val 12000"/>
            </a:avLst>
          </a:prstGeom>
          <a:solidFill>
            <a:srgbClr val="F7F2EA"/>
          </a:solidFill>
          <a:ln w="25400">
            <a:solidFill>
              <a:srgbClr val="9F3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65976" y="35387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9F3017"/>
                </a:solidFill>
                <a:latin typeface="Helvetica Neue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4198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Premium oil 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72160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65449"/>
                </a:solidFill>
                <a:latin typeface="Helvetica Neue"/>
              </a:rPr>
              <a:t>Full synthetic · premium filter · 21-pt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3529584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9F3017"/>
                </a:solidFill>
                <a:latin typeface="Helvetica Neue"/>
              </a:rPr>
              <a:t>$94.99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423367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65449"/>
                </a:solidFill>
                <a:latin typeface="Helvetica Neue"/>
              </a:rPr>
              <a:t>— or “none of these options”, recorded explicitly.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754880"/>
            <a:ext cx="5349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8241C"/>
                </a:solidFill>
                <a:latin typeface="Helvetica Neue"/>
              </a:rPr>
              <a:t>Good / better / best, enforced</a:t>
            </a:r>
            <a:r>
              <a:rPr sz="1350" b="0">
                <a:solidFill>
                  <a:srgbClr val="465449"/>
                </a:solidFill>
                <a:latin typeface="Helvetica Neue"/>
              </a:rPr>
              <a:t> — a single choice per group server-side, alternatives auto-declined, only the chosen option reaches the invoice. Estimates are immutable once presented: corrections are revisions or change orders (ADR 0004, 0014), never silent edits.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49"/>
                </a:solidFill>
                <a:latin typeface="Helvetica Neue"/>
              </a:rPr>
              <a:t>ShopOS · open-source launch preview · 2026 · Co-created by a human builder and Z.AI GLM-5.2 &amp; GLM-5.3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65449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AUTHORIZATION, INSPECTIONS,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8241C"/>
                </a:solidFill>
                <a:latin typeface="Helvetica Neue"/>
              </a:rPr>
              <a:t>From “can you approve this?” to signature, without the phone tag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5577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Signed, expiring, revocable links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sent by email or SMS — the customer approves line by line on their phone, no account needed.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Staff-recorded decisions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for walk-ins, with the same unambiguous record.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Change orders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as supplemental authorization — the original approval is never overwritten.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Printable authorization documents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for the clipboard world.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2120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Digital vehicle inspections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— templates with ok / watch / replace / n/a per item, notes, photos, and video (Mux or local storage).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Recommendations flow into estimates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with their evidence attached.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Customer tracker link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— watch job progress without an account.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Full customer portal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— history, authorizations, invoices, payments.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394960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577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8241C"/>
                </a:solidFill>
                <a:latin typeface="Helvetica Neue"/>
              </a:rPr>
              <a:t>Choosing an option on the public page records the whole decision unambiguously — </a:t>
            </a:r>
            <a:r>
              <a:rPr sz="1350" b="1">
                <a:solidFill>
                  <a:srgbClr val="9F3017"/>
                </a:solidFill>
                <a:latin typeface="Helvetica Neue"/>
              </a:rPr>
              <a:t>approve, decline, and which alternative won.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49"/>
                </a:solidFill>
                <a:latin typeface="Helvetica Neue"/>
              </a:rPr>
              <a:t>ShopOS · open-source launch preview · 2026 · Co-created by a human builder and Z.AI GLM-5.2 &amp; GLM-5.3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65449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PARTS &amp;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8241C"/>
                </a:solidFill>
                <a:latin typeface="Helvetica Neue"/>
              </a:rPr>
              <a:t>Auto-parts depth without a separate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" y="1709928"/>
            <a:ext cx="7004304" cy="4432554"/>
          </a:xfrm>
          <a:prstGeom prst="rect">
            <a:avLst/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6858000" cy="4286250"/>
          </a:xfrm>
          <a:prstGeom prst="rect">
            <a:avLst/>
          </a:prstGeom>
          <a:ln w="9525">
            <a:solidFill>
              <a:srgbClr val="D0CABE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726679" y="1920240"/>
            <a:ext cx="39319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8241C"/>
                </a:solidFill>
                <a:latin typeface="Helvetica Neue"/>
              </a:rPr>
              <a:t>OE numbers</a:t>
            </a:r>
            <a:r>
              <a:rPr sz="1300" b="0">
                <a:solidFill>
                  <a:srgbClr val="18241C"/>
                </a:solidFill>
                <a:latin typeface="Helvetica Neue"/>
              </a:rPr>
              <a:t> plus per-manufacturer aftermarket numbers and interchange lookup.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8241C"/>
                </a:solidFill>
                <a:latin typeface="Helvetica Neue"/>
              </a:rPr>
              <a:t>Purpose-tracked orders</a:t>
            </a:r>
            <a:r>
              <a:rPr sz="1300" b="0">
                <a:solidFill>
                  <a:srgbClr val="18241C"/>
                </a:solidFill>
                <a:latin typeface="Helvetica Neue"/>
              </a:rPr>
              <a:t> — job-specific vs stock replenishment vs allocation, with a waiting-on-vendors board.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8241C"/>
                </a:solidFill>
                <a:latin typeface="Helvetica Neue"/>
              </a:rPr>
              <a:t>Real units</a:t>
            </a:r>
            <a:r>
              <a:rPr sz="1300" b="0">
                <a:solidFill>
                  <a:srgbClr val="18241C"/>
                </a:solidFill>
                <a:latin typeface="Helvetica Neue"/>
              </a:rPr>
              <a:t> — quarts/gallons/drums with base-unit totals, cores, bin locations, photos.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8241C"/>
                </a:solidFill>
                <a:latin typeface="Helvetica Neue"/>
              </a:rPr>
              <a:t>Reorder points</a:t>
            </a:r>
            <a:r>
              <a:rPr sz="1300" b="0">
                <a:solidFill>
                  <a:srgbClr val="18241C"/>
                </a:solidFill>
                <a:latin typeface="Helvetica Neue"/>
              </a:rPr>
              <a:t> with low-stock surfacing and reorder suggestions.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49"/>
                </a:solidFill>
                <a:latin typeface="Helvetica Neue"/>
              </a:rPr>
              <a:t>ShopOS · open-source launch preview · 2026 · Co-created by a human builder and Z.AI GLM-5.2 &amp; GLM-5.3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65449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BILLING &amp; PAYMENTS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8241C"/>
                </a:solidFill>
                <a:latin typeface="Helvetica Neue"/>
              </a:rPr>
              <a:t>Money handled like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5715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8241C"/>
                </a:solidFill>
                <a:latin typeface="Helvetica Neue"/>
              </a:rPr>
              <a:t>Immutable invoice snapshots</a:t>
            </a:r>
            <a:r>
              <a:rPr sz="1300" b="0">
                <a:solidFill>
                  <a:srgbClr val="18241C"/>
                </a:solidFill>
                <a:latin typeface="Helvetica Neue"/>
              </a:rPr>
              <a:t> from completed work — per-establishment series, legal numbering, tax IDs on prints, void/reissue semantics.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8241C"/>
                </a:solidFill>
                <a:latin typeface="Helvetica Neue"/>
              </a:rPr>
              <a:t>Deposits before invoicing</a:t>
            </a:r>
            <a:r>
              <a:rPr sz="1300" b="0">
                <a:solidFill>
                  <a:srgbClr val="18241C"/>
                </a:solidFill>
                <a:latin typeface="Helvetica Neue"/>
              </a:rPr>
              <a:t>, split and mixed tenders, refunds, AR aging with printable statements.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8241C"/>
                </a:solidFill>
                <a:latin typeface="Helvetica Neue"/>
              </a:rPr>
              <a:t>Cash drawer</a:t>
            </a:r>
            <a:r>
              <a:rPr sz="1300" b="0">
                <a:solidFill>
                  <a:srgbClr val="18241C"/>
                </a:solidFill>
                <a:latin typeface="Helvetica Neue"/>
              </a:rPr>
              <a:t> — count-in/count-out sessions with expected-vs-counted reconciliation.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8241C"/>
                </a:solidFill>
                <a:latin typeface="Helvetica Neue"/>
              </a:rPr>
              <a:t>Zero-decimal currencies</a:t>
            </a:r>
            <a:r>
              <a:rPr sz="1300" b="0">
                <a:solidFill>
                  <a:srgbClr val="18241C"/>
                </a:solidFill>
                <a:latin typeface="Helvetica Neue"/>
              </a:rPr>
              <a:t> (JPY, CLP, COP) handled correctly; money is always integer minor units.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78308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BRING YOUR OWN PROCESSOR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121408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65449"/>
                </a:solidFill>
                <a:latin typeface="Helvetica Neue"/>
              </a:rPr>
              <a:t>Connect your own account — payment links with signed webhooks, in-app charges, refunds: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2724912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200" b="1">
                <a:solidFill>
                  <a:srgbClr val="18241C"/>
                </a:solidFill>
                <a:latin typeface="Helvetica Neue"/>
              </a:rPr>
              <a:t>Stripe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51776" y="2724912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200" b="1">
                <a:solidFill>
                  <a:srgbClr val="18241C"/>
                </a:solidFill>
                <a:latin typeface="Helvetica Neue"/>
              </a:rPr>
              <a:t>Square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5592" y="2724912"/>
            <a:ext cx="608076" cy="310896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200" b="1">
                <a:solidFill>
                  <a:srgbClr val="18241C"/>
                </a:solidFill>
                <a:latin typeface="Helvetica Neue"/>
              </a:rPr>
              <a:t>Adyen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1684" y="2724912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200" b="1">
                <a:solidFill>
                  <a:srgbClr val="18241C"/>
                </a:solidFill>
                <a:latin typeface="Helvetica Neue"/>
              </a:rPr>
              <a:t>Mollie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163824"/>
            <a:ext cx="1152144" cy="310896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200" b="1">
                <a:solidFill>
                  <a:srgbClr val="18241C"/>
                </a:solidFill>
                <a:latin typeface="Helvetica Neue"/>
              </a:rPr>
              <a:t>Mercado Pago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163824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200" b="1">
                <a:solidFill>
                  <a:srgbClr val="18241C"/>
                </a:solidFill>
                <a:latin typeface="Helvetica Neue"/>
              </a:rPr>
              <a:t>Razorpay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749039"/>
            <a:ext cx="5074920" cy="1371600"/>
          </a:xfrm>
          <a:prstGeom prst="roundRect">
            <a:avLst>
              <a:gd name="adj" fmla="val 8000"/>
            </a:avLst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950208"/>
            <a:ext cx="4526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8241C"/>
                </a:solidFill>
                <a:latin typeface="Helvetica Neue"/>
              </a:rPr>
              <a:t>No processor? No problem. </a:t>
            </a:r>
            <a:r>
              <a:rPr sz="1350" b="0">
                <a:solidFill>
                  <a:srgbClr val="465449"/>
                </a:solidFill>
                <a:latin typeface="Helvetica Neue"/>
              </a:rPr>
              <a:t>Cash, check, and record-only cards always work without any connected provider — and invoices and history never depend on 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E-invoicing built in: </a:t>
            </a:r>
            <a:r>
              <a:rPr sz="1300" b="0">
                <a:solidFill>
                  <a:srgbClr val="465449"/>
                </a:solidFill>
                <a:latin typeface="Helvetica Neue"/>
              </a:rPr>
              <a:t>Factur-X/ZUGFeRD, XRechnung, FatturaPA as tamper-evident snapshots; clearance adapters (SDI, KSeF, IRP, VeriFactU) are connector slots.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49"/>
                </a:solidFill>
                <a:latin typeface="Helvetica Neue"/>
              </a:rPr>
              <a:t>ShopOS · open-source launch preview · 2026 · Co-created by a human builder and Z.AI GLM-5.2 &amp; GLM-5.3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65449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INTERNATIONAL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8241C"/>
                </a:solidFill>
                <a:latin typeface="Helvetica Neue"/>
              </a:rPr>
              <a:t>Built for more than one country from day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56692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Regional settings per organization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with location overrides — currency, locale, phone country, cash rounding, week start.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Tax identity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— org and customer tax IDs, VAT-inclusive or exclusive documents, stacked taxes (GST + PST/QST) with per-component rounding.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E-invoicing formats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generated as tamper-evident snapshots for Germany, Italy, France, Poland and friends.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Phone and calendar sense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— E.164 parsing with country defaults, per-location holiday calendars, country-aware address shapes.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783080"/>
            <a:ext cx="51206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Localization architecture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— product messages in checked-in ICU catalogs; user content translation is a separate, tenant-scoped boundary.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Provider-neutral translation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— translations are labeled, versioned projections that never authorize access or overwrite the source.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Bidirectional UI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— logical layout properties and mixed-direction protections tested with pseudo-locales and RTL suites.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Locale ≠ currency ≠ time zone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— all kept separate, UTC instants recorded, IANA zones for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49"/>
                </a:solidFill>
                <a:latin typeface="Helvetica Neue"/>
              </a:rPr>
              <a:t>ShopOS · open-source launch preview · 2026 · Co-created by a human builder and Z.AI GLM-5.2 &amp; GLM-5.3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65449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8241C"/>
                </a:solidFill>
                <a:latin typeface="Helvetica Neue"/>
              </a:rPr>
              <a:t>Beyond the service bay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" y="1709928"/>
            <a:ext cx="5586984" cy="3546729"/>
          </a:xfrm>
          <a:prstGeom prst="rect">
            <a:avLst/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ey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83080"/>
            <a:ext cx="5440680" cy="3400425"/>
          </a:xfrm>
          <a:prstGeom prst="rect">
            <a:avLst/>
          </a:prstGeom>
          <a:ln w="9525">
            <a:solidFill>
              <a:srgbClr val="D0CABE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6190488" y="1709928"/>
            <a:ext cx="5586984" cy="3546729"/>
          </a:xfrm>
          <a:prstGeom prst="rect">
            <a:avLst/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ads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3080"/>
            <a:ext cx="5440680" cy="3400425"/>
          </a:xfrm>
          <a:prstGeom prst="rect">
            <a:avLst/>
          </a:prstGeom>
          <a:ln w="9525">
            <a:solidFill>
              <a:srgbClr val="D0CABE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66928" y="5348097"/>
            <a:ext cx="5440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8241C"/>
                </a:solidFill>
                <a:latin typeface="Helvetica Neue"/>
              </a:rPr>
              <a:t>Key board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465449"/>
                </a:solidFill>
                <a:latin typeface="Helvetica Neue"/>
              </a:rPr>
              <a:t>Which tag goes with which job and where it lives right now — card grid with one-tap location chips, built for a wall-mounted tablet.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348097"/>
            <a:ext cx="5440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8241C"/>
                </a:solidFill>
                <a:latin typeface="Helvetica Neue"/>
              </a:rPr>
              <a:t>Roadside dispatch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465449"/>
                </a:solidFill>
                <a:latin typeface="Helvetica Neue"/>
              </a:rPr>
              <a:t>Mobile service calls — jumpstarts, tire changes, lockouts — status board, tap-to-call, technician assignment, geocoding/routing via the maps connector.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897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Also: </a:t>
            </a:r>
            <a:r>
              <a:rPr sz="1300" b="0">
                <a:solidFill>
                  <a:srgbClr val="465449"/>
                </a:solidFill>
                <a:latin typeface="Helvetica Neue"/>
              </a:rPr>
              <a:t>fleet vehicles with loaner checkouts and registration/insurance tracking · declined-work follow-ups · pickup &amp; delivery logistics.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49"/>
                </a:solidFill>
                <a:latin typeface="Helvetica Neue"/>
              </a:rPr>
              <a:t>ShopOS · open-source launch preview · 2026 · Co-created by a human builder and Z.AI GLM-5.2 &amp; GLM-5.3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65449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PLATFORM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8241C"/>
                </a:solidFill>
                <a:latin typeface="Helvetica Neue"/>
              </a:rPr>
              <a:t>Multi-tenant from the first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56692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Every business record carries its organization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— organization and location are authorization boundaries, not display filters.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Permissions rebuilt server-side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on every request from membership and location-access records — nothing from the browser is trusted.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Cross-tenant denial paths are integration-tested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, not assumed: wrong-org reads, identifier guessing, nested-resource abuse, unauthorized mutations.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783080"/>
            <a:ext cx="51206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Better Auth throughout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— email/password, magic link, email OTP, MFA, passkeys, recovery. No parallel auth tables.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SaaS control plane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— a separate MFA-gated security plane (/platform) for plans, entitlements, org lifecycle, and platform audit.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50" b="1">
                <a:solidFill>
                  <a:srgbClr val="18241C"/>
                </a:solidFill>
                <a:latin typeface="Helvetica Neue"/>
              </a:rPr>
              <a:t>Audit history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 on both planes; tenant audit records platform actions that affect a tenant.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25780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440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9F3017"/>
                </a:solidFill>
                <a:latin typeface="Helvetica Neue"/>
              </a:rPr>
              <a:t>A federated identity never grants membership by itself. 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Provider, issuer/tenant, organization binding, verified domain, and provisioning policy are all checked — SSO federation itself is on the roadmap.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49"/>
                </a:solidFill>
                <a:latin typeface="Helvetica Neue"/>
              </a:rPr>
              <a:t>ShopOS · open-source launch preview · 2026 · Co-created by a human builder and Z.AI GLM-5.2 &amp; GLM-5.3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65449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8241C"/>
                </a:solidFill>
                <a:latin typeface="Helvetica Neue"/>
              </a:rPr>
              <a:t>A modular monolith, decided in the open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1074420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work-orders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2788" y="1737360"/>
            <a:ext cx="918971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estimates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199" y="173736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invoices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5887" y="1737360"/>
            <a:ext cx="763524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billing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30851" y="173736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payments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63539" y="1737360"/>
            <a:ext cx="608076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parts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5" y="1737360"/>
            <a:ext cx="918971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inventory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3466" y="1737360"/>
            <a:ext cx="1229868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service-calls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94774" y="1737360"/>
            <a:ext cx="763524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loaners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49738" y="1737360"/>
            <a:ext cx="918971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customers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60149" y="173736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assets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121408"/>
            <a:ext cx="1152144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appointments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10512" y="2121408"/>
            <a:ext cx="918971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followups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20923" y="2121408"/>
            <a:ext cx="1152144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inspections*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4507" y="212140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portal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1747" y="212140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74435" y="2121408"/>
            <a:ext cx="1074420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memberships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0295" y="2121408"/>
            <a:ext cx="1229868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organizations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61603" y="2121408"/>
            <a:ext cx="763524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tenancy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16567" y="2121408"/>
            <a:ext cx="1152144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integrations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60151" y="212140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outbox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2505456"/>
            <a:ext cx="608076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taxes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66444" y="2505456"/>
            <a:ext cx="1229868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time-tracking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87752" y="2505456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activity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40" y="2505456"/>
            <a:ext cx="1229868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notifications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1748" y="2505456"/>
            <a:ext cx="763524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reports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96712" y="2505456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none"/>
          <a:lstStyle/>
          <a:p>
            <a:pPr algn="ctr"/>
            <a:r>
              <a:rPr sz="1100" b="1">
                <a:solidFill>
                  <a:srgbClr val="18241C"/>
                </a:solidFill>
                <a:latin typeface="Helvetica Neue"/>
              </a:rPr>
              <a:t>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01752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65449"/>
                </a:solidFill>
                <a:latin typeface="Helvetica Neue"/>
              </a:rPr>
              <a:t>27 business modules in src/modules — organized by domain, not by technical layer.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401568"/>
            <a:ext cx="56692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8241C"/>
                </a:solidFill>
                <a:latin typeface="Helvetica Neue"/>
              </a:rPr>
              <a:t>Application services for mutations</a:t>
            </a:r>
            <a:r>
              <a:rPr sz="1300" b="0">
                <a:solidFill>
                  <a:srgbClr val="18241C"/>
                </a:solidFill>
                <a:latin typeface="Helvetica Neue"/>
              </a:rPr>
              <a:t> — routes only validate transport input; domain rules live in modules.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8241C"/>
                </a:solidFill>
                <a:latin typeface="Helvetica Neue"/>
              </a:rPr>
              <a:t>Prisma + PostgreSQL</a:t>
            </a:r>
            <a:r>
              <a:rPr sz="1300" b="0">
                <a:solidFill>
                  <a:srgbClr val="18241C"/>
                </a:solidFill>
                <a:latin typeface="Helvetica Neue"/>
              </a:rPr>
              <a:t> with tenant-scoped repositories and hand-reviewed migrations preserving constraints Postgres can express and Prisma can't.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8241C"/>
                </a:solidFill>
                <a:latin typeface="Helvetica Neue"/>
              </a:rPr>
              <a:t>Outbox-based delivery</a:t>
            </a:r>
            <a:r>
              <a:rPr sz="1300" b="0">
                <a:solidFill>
                  <a:srgbClr val="18241C"/>
                </a:solidFill>
                <a:latin typeface="Helvetica Neue"/>
              </a:rPr>
              <a:t> for domain events and jobs — no fire-and-forget side effects.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401568"/>
            <a:ext cx="51206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8241C"/>
                </a:solidFill>
                <a:latin typeface="Helvetica Neue"/>
              </a:rPr>
              <a:t>18 ADRs</a:t>
            </a:r>
            <a:r>
              <a:rPr sz="1300" b="0">
                <a:solidFill>
                  <a:srgbClr val="18241C"/>
                </a:solidFill>
                <a:latin typeface="Helvetica Neue"/>
              </a:rPr>
              <a:t> record the durable decisions — modular monolith, tenant context, money, estimate revisions, Better Auth, connector model, e-invoicing, native/white-label platform.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8241C"/>
                </a:solidFill>
                <a:latin typeface="Helvetica Neue"/>
              </a:rPr>
              <a:t>Strict TypeScript</a:t>
            </a:r>
            <a:r>
              <a:rPr sz="1300" b="0">
                <a:solidFill>
                  <a:srgbClr val="18241C"/>
                </a:solidFill>
                <a:latin typeface="Helvetica Neue"/>
              </a:rPr>
              <a:t>, no `any`, exact-optional types, React 19, Next.js 16 App Router.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8241C"/>
                </a:solidFill>
                <a:latin typeface="Helvetica Neue"/>
              </a:rPr>
              <a:t>Quality gate</a:t>
            </a:r>
            <a:r>
              <a:rPr sz="1300" b="0">
                <a:solidFill>
                  <a:srgbClr val="18241C"/>
                </a:solidFill>
                <a:latin typeface="Helvetica Neue"/>
              </a:rPr>
              <a:t> — lint, format, types, db validation, 644 tests, and the production build on every change.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49"/>
                </a:solidFill>
                <a:latin typeface="Helvetica Neue"/>
              </a:rPr>
              <a:t>ShopOS · open-source launch preview · 2026 · Co-created by a human builder and Z.AI GLM-5.2 &amp; GLM-5.3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65449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CONNECTORS — ADR 0008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8241C"/>
                </a:solidFill>
                <a:latin typeface="Helvetica Neue"/>
              </a:rPr>
              <a:t>Bring your own provider — or none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37360"/>
            <a:ext cx="11064240" cy="603504"/>
          </a:xfrm>
          <a:prstGeom prst="rect">
            <a:avLst/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37360"/>
            <a:ext cx="1783080" cy="603504"/>
          </a:xfrm>
          <a:prstGeom prst="rect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91109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Payments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801368"/>
            <a:ext cx="4480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241C"/>
                </a:solidFill>
                <a:latin typeface="Helvetica Neue"/>
              </a:rPr>
              <a:t>Stripe · Square · Adyen · Mollie · Mercado Pago · Razorpay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801368"/>
            <a:ext cx="4297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65449"/>
                </a:solidFill>
                <a:latin typeface="Helvetica Neue"/>
              </a:rPr>
              <a:t>payment links, in-app charges, refunds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32304"/>
            <a:ext cx="11064240" cy="603504"/>
          </a:xfrm>
          <a:prstGeom prst="rect">
            <a:avLst/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432304"/>
            <a:ext cx="1783080" cy="603504"/>
          </a:xfrm>
          <a:prstGeom prst="rect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6060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496312"/>
            <a:ext cx="4480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241C"/>
                </a:solidFill>
                <a:latin typeface="Helvetica Neue"/>
              </a:rPr>
              <a:t>Google Maps · Azure Maps · Mapbox · AWS 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496312"/>
            <a:ext cx="4297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65449"/>
                </a:solidFill>
                <a:latin typeface="Helvetica Neue"/>
              </a:rPr>
              <a:t>geocoding + routing for roadside; degrades gracefully without a key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127248"/>
            <a:ext cx="11064240" cy="603504"/>
          </a:xfrm>
          <a:prstGeom prst="rect">
            <a:avLst/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127248"/>
            <a:ext cx="1783080" cy="603504"/>
          </a:xfrm>
          <a:prstGeom prst="rect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3009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191256"/>
            <a:ext cx="4480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241C"/>
                </a:solidFill>
                <a:latin typeface="Helvetica Neue"/>
              </a:rPr>
              <a:t>S3-compatible object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191256"/>
            <a:ext cx="4297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65449"/>
                </a:solidFill>
                <a:latin typeface="Helvetica Neue"/>
              </a:rPr>
              <a:t>photos and documents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822192"/>
            <a:ext cx="11064240" cy="603504"/>
          </a:xfrm>
          <a:prstGeom prst="rect">
            <a:avLst/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822192"/>
            <a:ext cx="1783080" cy="603504"/>
          </a:xfrm>
          <a:prstGeom prst="rect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99592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Video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3886200"/>
            <a:ext cx="4480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241C"/>
                </a:solidFill>
                <a:latin typeface="Helvetica Neue"/>
              </a:rPr>
              <a:t>Mux or local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886200"/>
            <a:ext cx="4297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65449"/>
                </a:solidFill>
                <a:latin typeface="Helvetica Neue"/>
              </a:rPr>
              <a:t>inspection and evidence video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517136"/>
            <a:ext cx="11064240" cy="603504"/>
          </a:xfrm>
          <a:prstGeom prst="rect">
            <a:avLst/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517136"/>
            <a:ext cx="1783080" cy="603504"/>
          </a:xfrm>
          <a:prstGeom prst="rect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69087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E-invoicing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4581144"/>
            <a:ext cx="4480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241C"/>
                </a:solidFill>
                <a:latin typeface="Helvetica Neue"/>
              </a:rPr>
              <a:t>Factur-X/ZUGFeRD · XRechnung · FatturaPA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581144"/>
            <a:ext cx="4297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65449"/>
                </a:solidFill>
                <a:latin typeface="Helvetica Neue"/>
              </a:rPr>
              <a:t>tamper-evident snapshots; clearance slots for regional intermediaries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212080"/>
            <a:ext cx="11064240" cy="603504"/>
          </a:xfrm>
          <a:prstGeom prst="rect">
            <a:avLst/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212080"/>
            <a:ext cx="1783080" cy="603504"/>
          </a:xfrm>
          <a:prstGeom prst="rect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38581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Email / SMS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5276088"/>
            <a:ext cx="4480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241C"/>
                </a:solidFill>
                <a:latin typeface="Helvetica Neue"/>
              </a:rPr>
              <a:t>console adapter in dev · BYO provider in prod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5276088"/>
            <a:ext cx="42976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465449"/>
                </a:solidFill>
                <a:latin typeface="Helvetica Neue"/>
              </a:rPr>
              <a:t>authorization links and notifications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96188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F3017"/>
                </a:solidFill>
                <a:latin typeface="Helvetica Neue"/>
              </a:rPr>
              <a:t>Credentials are envelope-encrypted. No vendor is ever required to read your own data.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49"/>
                </a:solidFill>
                <a:latin typeface="Helvetica Neue"/>
              </a:rPr>
              <a:t>ShopOS · open-source launch preview · 2026 · Co-created by a human builder and Z.AI GLM-5.2 &amp; GLM-5.3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65449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THEMES &amp; CUSTOMIZATION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8241C"/>
                </a:solidFill>
                <a:latin typeface="Helvetica Neue"/>
              </a:rPr>
              <a:t>Your shop, your look — tokens, not CSS hacks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2670048" cy="2286000"/>
          </a:xfrm>
          <a:prstGeom prst="roundRect">
            <a:avLst>
              <a:gd name="adj" fmla="val 5000"/>
            </a:avLst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2670048" cy="566928"/>
          </a:xfrm>
          <a:prstGeom prst="roundRect">
            <a:avLst>
              <a:gd name="adj" fmla="val 5000"/>
            </a:avLst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9384"/>
            <a:ext cx="2340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CFAF6"/>
                </a:solidFill>
                <a:latin typeface="Helvetica Neue"/>
              </a:rPr>
              <a:t>Warm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512064" cy="512064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16736" y="2560320"/>
            <a:ext cx="512064" cy="512064"/>
          </a:xfrm>
          <a:prstGeom prst="rect">
            <a:avLst/>
          </a:prstGeom>
          <a:solidFill>
            <a:srgbClr val="FDFBF6"/>
          </a:solidFill>
          <a:ln w="9525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01952" y="2560320"/>
            <a:ext cx="512064" cy="512064"/>
          </a:xfrm>
          <a:prstGeom prst="rect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87168" y="2560320"/>
            <a:ext cx="512064" cy="512064"/>
          </a:xfrm>
          <a:prstGeom prst="rect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82112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8241C"/>
                </a:solidFill>
                <a:latin typeface="Helvetica Neue"/>
              </a:rPr>
              <a:t>bg · card · primary · accent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2340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8241C"/>
                </a:solidFill>
                <a:latin typeface="Helvetica Neue"/>
              </a:rPr>
              <a:t>counter-friendly cream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1783080"/>
            <a:ext cx="267004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64992" y="1783080"/>
            <a:ext cx="2670048" cy="566928"/>
          </a:xfrm>
          <a:prstGeom prst="roundRect">
            <a:avLst>
              <a:gd name="adj" fmla="val 5000"/>
            </a:avLst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1929384"/>
            <a:ext cx="2340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</a:rPr>
              <a:t>Light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9584" y="2560320"/>
            <a:ext cx="512064" cy="512064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560320"/>
            <a:ext cx="512064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0016" y="2560320"/>
            <a:ext cx="512064" cy="512064"/>
          </a:xfrm>
          <a:prstGeom prst="rect">
            <a:avLst/>
          </a:prstGeom>
          <a:solidFill>
            <a:srgbClr val="1F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85232" y="2560320"/>
            <a:ext cx="512064" cy="512064"/>
          </a:xfrm>
          <a:prstGeom prst="rect">
            <a:avLst/>
          </a:prstGeom>
          <a:solidFill>
            <a:srgbClr val="DF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3182112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F2329"/>
                </a:solidFill>
                <a:latin typeface="Helvetica Neue"/>
              </a:rPr>
              <a:t>bg · card · primary · accent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584" y="3474720"/>
            <a:ext cx="2340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F2329"/>
                </a:solidFill>
                <a:latin typeface="Helvetica Neue"/>
              </a:rPr>
              <a:t>clean daylight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1783080"/>
            <a:ext cx="2670048" cy="2286000"/>
          </a:xfrm>
          <a:prstGeom prst="roundRect">
            <a:avLst>
              <a:gd name="adj" fmla="val 5000"/>
            </a:avLst>
          </a:prstGeom>
          <a:solidFill>
            <a:srgbClr val="151B17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63056" y="1783080"/>
            <a:ext cx="2670048" cy="566928"/>
          </a:xfrm>
          <a:prstGeom prst="roundRect">
            <a:avLst>
              <a:gd name="adj" fmla="val 5000"/>
            </a:avLst>
          </a:prstGeom>
          <a:solidFill>
            <a:srgbClr val="E48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1929384"/>
            <a:ext cx="2340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51B17"/>
                </a:solidFill>
                <a:latin typeface="Helvetica Neue"/>
              </a:rPr>
              <a:t>Dark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7648" y="2560320"/>
            <a:ext cx="512064" cy="512064"/>
          </a:xfrm>
          <a:prstGeom prst="rect">
            <a:avLst/>
          </a:prstGeom>
          <a:solidFill>
            <a:srgbClr val="0D1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12864" y="2560320"/>
            <a:ext cx="512064" cy="512064"/>
          </a:xfrm>
          <a:prstGeom prst="rect">
            <a:avLst/>
          </a:prstGeom>
          <a:solidFill>
            <a:srgbClr val="151B17"/>
          </a:solidFill>
          <a:ln w="9525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0" y="2560320"/>
            <a:ext cx="512064" cy="512064"/>
          </a:xfrm>
          <a:prstGeom prst="rect">
            <a:avLst/>
          </a:prstGeom>
          <a:solidFill>
            <a:srgbClr val="E48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3296" y="2560320"/>
            <a:ext cx="512064" cy="512064"/>
          </a:xfrm>
          <a:prstGeom prst="rect">
            <a:avLst/>
          </a:prstGeom>
          <a:solidFill>
            <a:srgbClr val="3B2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3182112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8EDE8"/>
                </a:solidFill>
                <a:latin typeface="Helvetica Neue"/>
              </a:rPr>
              <a:t>bg · card · primary · accent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474720"/>
            <a:ext cx="2340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EDE8"/>
                </a:solidFill>
                <a:latin typeface="Helvetica Neue"/>
              </a:rPr>
              <a:t>night shifts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1783080"/>
            <a:ext cx="2670048" cy="2286000"/>
          </a:xfrm>
          <a:prstGeom prst="roundRect">
            <a:avLst>
              <a:gd name="adj" fmla="val 5000"/>
            </a:avLst>
          </a:prstGeom>
          <a:solidFill>
            <a:srgbClr val="272232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61120" y="1783080"/>
            <a:ext cx="2670048" cy="566928"/>
          </a:xfrm>
          <a:prstGeom prst="roundRect">
            <a:avLst>
              <a:gd name="adj" fmla="val 5000"/>
            </a:avLst>
          </a:prstGeom>
          <a:solidFill>
            <a:srgbClr val="E489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25712" y="1929384"/>
            <a:ext cx="23408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72232"/>
                </a:solidFill>
                <a:latin typeface="Helvetica Neue"/>
              </a:rPr>
              <a:t>Dusk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25712" y="2560320"/>
            <a:ext cx="512064" cy="512064"/>
          </a:xfrm>
          <a:prstGeom prst="rect">
            <a:avLst/>
          </a:prstGeom>
          <a:solidFill>
            <a:srgbClr val="1D1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10928" y="2560320"/>
            <a:ext cx="512064" cy="512064"/>
          </a:xfrm>
          <a:prstGeom prst="rect">
            <a:avLst/>
          </a:prstGeom>
          <a:solidFill>
            <a:srgbClr val="272232"/>
          </a:solidFill>
          <a:ln w="9525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96144" y="2560320"/>
            <a:ext cx="512064" cy="512064"/>
          </a:xfrm>
          <a:prstGeom prst="rect">
            <a:avLst/>
          </a:prstGeom>
          <a:solidFill>
            <a:srgbClr val="E489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881360" y="2560320"/>
            <a:ext cx="512064" cy="512064"/>
          </a:xfrm>
          <a:prstGeom prst="rect">
            <a:avLst/>
          </a:prstGeom>
          <a:solidFill>
            <a:srgbClr val="4A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25712" y="3182112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DE7DF"/>
                </a:solidFill>
                <a:latin typeface="Helvetica Neue"/>
              </a:rPr>
              <a:t>bg · card · primary · accent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474720"/>
            <a:ext cx="2340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DE7DF"/>
                </a:solidFill>
                <a:latin typeface="Helvetica Neue"/>
              </a:rPr>
              <a:t>low-glare purple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3434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8241C"/>
                </a:solidFill>
                <a:latin typeface="Helvetica Neue"/>
              </a:rPr>
              <a:t>Appearance menu in the top bar </a:t>
            </a:r>
            <a:r>
              <a:rPr sz="1350" b="0">
                <a:solidFill>
                  <a:srgbClr val="465449"/>
                </a:solidFill>
                <a:latin typeface="Helvetica Neue"/>
              </a:rPr>
              <a:t>— System, Light, Dark, Warm, or Dusk, per user, with live preview. Density (comfortable / compact) follows the user. Themes are semantic design tokens with automated contrast checks — no customer CSS, no hard-coded brand colors.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120640"/>
            <a:ext cx="11064240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8241C"/>
                </a:solidFill>
                <a:latin typeface="Helvetica Neue"/>
              </a:rPr>
              <a:t>Configurable today: </a:t>
            </a:r>
            <a:r>
              <a:rPr sz="1300" b="0">
                <a:solidFill>
                  <a:srgbClr val="18241C"/>
                </a:solidFill>
                <a:latin typeface="Helvetica Neue"/>
              </a:rPr>
              <a:t>board columns, tax rates, invoice series, canned jobs, inspection templates, regional settings, themes, per-user density.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3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300" b="1">
                <a:solidFill>
                  <a:srgbClr val="18241C"/>
                </a:solidFill>
                <a:latin typeface="Helvetica Neue"/>
              </a:rPr>
              <a:t>On the roadmap: </a:t>
            </a:r>
            <a:r>
              <a:rPr sz="1300" b="0">
                <a:solidFill>
                  <a:srgbClr val="18241C"/>
                </a:solidFill>
                <a:latin typeface="Helvetica Neue"/>
              </a:rPr>
              <a:t>organization theme publishing, deeper brand customization within the token system, and white-label branded customer apps from the same codebase (ADR 0013).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49"/>
                </a:solidFill>
                <a:latin typeface="Helvetica Neue"/>
              </a:rPr>
              <a:t>ShopOS · open-source launch preview · 2026 · Co-created by a human builder and Z.AI GLM-5.2 &amp; GLM-5.3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65449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ROADMAP — NEAR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8241C"/>
                </a:solidFill>
                <a:latin typeface="Helvetica Neue"/>
              </a:rPr>
              <a:t>What's next, kept honest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64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8241C"/>
                </a:solidFill>
                <a:latin typeface="Helvetica Neue"/>
              </a:rPr>
              <a:t>SSO federation for organizations</a:t>
            </a:r>
            <a:r>
              <a:rPr sz="1400" b="0">
                <a:solidFill>
                  <a:srgbClr val="18241C"/>
                </a:solidFill>
                <a:latin typeface="Helvetica Neue"/>
              </a:rPr>
              <a:t>Microsoft, Google, OIDC, SAML — the policy module and issuer/binding checks exist; the sign-in flow ships next.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8241C"/>
                </a:solidFill>
                <a:latin typeface="Helvetica Neue"/>
              </a:rPr>
              <a:t>Production email delivery adapters</a:t>
            </a:r>
            <a:r>
              <a:rPr sz="1400" b="0">
                <a:solidFill>
                  <a:srgbClr val="18241C"/>
                </a:solidFill>
                <a:latin typeface="Helvetica Neue"/>
              </a:rPr>
              <a:t>SMTP/SES/Mailgun/Resend/SendGrid — console adapter today, BYO provider from day one in prod.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8241C"/>
                </a:solidFill>
                <a:latin typeface="Helvetica Neue"/>
              </a:rPr>
              <a:t>Locale-prefixed UI routing + ICU catalogs</a:t>
            </a:r>
            <a:r>
              <a:rPr sz="1400" b="0">
                <a:solidFill>
                  <a:srgbClr val="18241C"/>
                </a:solidFill>
                <a:latin typeface="Helvetica Neue"/>
              </a:rPr>
              <a:t>the localization architecture and tests are in; full UI catalog coverage is ongoing.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8241C"/>
                </a:solidFill>
                <a:latin typeface="Helvetica Neue"/>
              </a:rPr>
              <a:t>Org-scoped URLs and onboarding polish</a:t>
            </a:r>
            <a:r>
              <a:rPr sz="1400" b="0">
                <a:solidFill>
                  <a:srgbClr val="18241C"/>
                </a:solidFill>
                <a:latin typeface="Helvetica Neue"/>
              </a:rPr>
              <a:t>org slugs instead of UUIDs, currency/locale defaults in first-run setup.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8241C"/>
                </a:solidFill>
                <a:latin typeface="Helvetica Neue"/>
              </a:rPr>
              <a:t>Support access, threat-modeled</a:t>
            </a:r>
            <a:r>
              <a:rPr sz="1400" b="0">
                <a:solidFill>
                  <a:srgbClr val="18241C"/>
                </a:solidFill>
                <a:latin typeface="Helvetica Neue"/>
              </a:rPr>
              <a:t>time-limited, user-visible, independently audited — deliberately not built until its threat model exists.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7607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65449"/>
                </a:solidFill>
                <a:latin typeface="Helvetica Neue"/>
              </a:rPr>
              <a:t>Roadmap state is explicit in docs/roadmap.md — “complete” means implemented and verified, not modeled.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49"/>
                </a:solidFill>
                <a:latin typeface="Helvetica Neue"/>
              </a:rPr>
              <a:t>ShopOS · open-source launch preview · 2026 · Co-created by a human builder and Z.AI GLM-5.2 &amp; GLM-5.3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65449"/>
                </a:solidFill>
                <a:latin typeface="Helvetica Neue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ROADMAP — THE BIG BETS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8241C"/>
                </a:solidFill>
                <a:latin typeface="Helvetica Neue"/>
              </a:rPr>
              <a:t>Where this goes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2157984" cy="3657600"/>
          </a:xfrm>
          <a:prstGeom prst="roundRect">
            <a:avLst>
              <a:gd name="adj" fmla="val 6000"/>
            </a:avLst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2157984" cy="502920"/>
          </a:xfrm>
          <a:prstGeom prst="rect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01952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CFAF6"/>
                </a:solidFill>
                <a:latin typeface="Helvetica Neue"/>
              </a:rPr>
              <a:t>Integrations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41448"/>
            <a:ext cx="1883664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Accounting: QuickBooks Online, Xero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VIN decode &amp; plate lookup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Labor-time &amp; repair guides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Parts catalog, fitment, ordering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Google / Outlook / iCal scheduling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783080"/>
            <a:ext cx="2157984" cy="3657600"/>
          </a:xfrm>
          <a:prstGeom prst="roundRect">
            <a:avLst>
              <a:gd name="adj" fmla="val 6000"/>
            </a:avLst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783080"/>
            <a:ext cx="2157984" cy="502920"/>
          </a:xfrm>
          <a:prstGeom prst="rect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944" y="1901952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CFAF6"/>
                </a:solidFill>
                <a:latin typeface="Helvetica Neue"/>
              </a:rPr>
              <a:t>Payments &amp; financing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0944" y="2441448"/>
            <a:ext cx="1883664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Card-present + ACH abstraction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Hosted fields, minimal PCI scope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Saved methods &amp; settlement reporting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Financing-partner boundary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2352" y="1783080"/>
            <a:ext cx="2157984" cy="3657600"/>
          </a:xfrm>
          <a:prstGeom prst="roundRect">
            <a:avLst>
              <a:gd name="adj" fmla="val 6000"/>
            </a:avLst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02352" y="1783080"/>
            <a:ext cx="2157984" cy="502920"/>
          </a:xfrm>
          <a:prstGeom prst="rect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8656" y="1901952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CFAF6"/>
                </a:solidFill>
                <a:latin typeface="Helvetica Neue"/>
              </a:rPr>
              <a:t>Warranty &amp;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656" y="2441448"/>
            <a:ext cx="1883664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Coverage verification &amp; claims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Third-party + aftermarket workflows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CARFAX service-history reporting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Replaceable provider boundary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0064" y="1783080"/>
            <a:ext cx="2157984" cy="3657600"/>
          </a:xfrm>
          <a:prstGeom prst="roundRect">
            <a:avLst>
              <a:gd name="adj" fmla="val 6000"/>
            </a:avLst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70064" y="1783080"/>
            <a:ext cx="2157984" cy="502920"/>
          </a:xfrm>
          <a:prstGeom prst="rect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8" y="1901952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CFAF6"/>
                </a:solidFill>
                <a:latin typeface="Helvetica Neue"/>
              </a:rPr>
              <a:t>Native &amp; white-label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441448"/>
            <a:ext cx="1883664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Technician-first Staff app (Expo)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Shared Customer app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Branded shop apps, same codebase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PWA-first, desktop later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7776" y="1783080"/>
            <a:ext cx="2157984" cy="3657600"/>
          </a:xfrm>
          <a:prstGeom prst="roundRect">
            <a:avLst>
              <a:gd name="adj" fmla="val 6000"/>
            </a:avLst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37776" y="1783080"/>
            <a:ext cx="2157984" cy="502920"/>
          </a:xfrm>
          <a:prstGeom prst="rect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901952"/>
            <a:ext cx="18653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CFAF6"/>
                </a:solidFill>
                <a:latin typeface="Helvetica Neue"/>
              </a:rPr>
              <a:t>Reporting &amp;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441448"/>
            <a:ext cx="1883664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Work mix, cycle time, margin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Technician productivity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Multi-location rollups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50" b="0">
                <a:solidFill>
                  <a:srgbClr val="465449"/>
                </a:solidFill>
                <a:latin typeface="Helvetica Neue"/>
              </a:rPr>
              <a:t>▸ Custom report builder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6235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Every named integration enters discovery first </a:t>
            </a:r>
            <a:r>
              <a:rPr sz="1300" b="0">
                <a:solidFill>
                  <a:srgbClr val="465449"/>
                </a:solidFill>
                <a:latin typeface="Helvetica Neue"/>
              </a:rPr>
              <a:t>— commercial access, API capability, security, data rights, and real demand are validated before a partner is committed.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49"/>
                </a:solidFill>
                <a:latin typeface="Helvetica Neue"/>
              </a:rPr>
              <a:t>ShopOS · open-source launch preview · 2026 · Co-created by a human builder and Z.AI GLM-5.2 &amp; GLM-5.3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65449"/>
                </a:solidFill>
                <a:latin typeface="Helvetica Neue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8241C"/>
                </a:solidFill>
                <a:latin typeface="Helvetica Neue"/>
              </a:rPr>
              <a:t>Self-hosting is the product, not an afterthought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56692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8241C"/>
                </a:solidFill>
                <a:latin typeface="Helvetica Neue"/>
              </a:rPr>
              <a:t>One deployable stack</a:t>
            </a:r>
            <a:r>
              <a:rPr sz="1400" b="0">
                <a:solidFill>
                  <a:srgbClr val="18241C"/>
                </a:solidFill>
                <a:latin typeface="Helvetica Neue"/>
              </a:rPr>
              <a:t> — Next.js app plus a worker process, your PostgreSQL. No proprietary runtime dependencies.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8241C"/>
                </a:solidFill>
                <a:latin typeface="Helvetica Neue"/>
              </a:rPr>
              <a:t>Same codebase, two modes</a:t>
            </a:r>
            <a:r>
              <a:rPr sz="1400" b="0">
                <a:solidFill>
                  <a:srgbClr val="18241C"/>
                </a:solidFill>
                <a:latin typeface="Helvetica Neue"/>
              </a:rPr>
              <a:t> — genuinely self-hostable application and a managed SaaS from one product.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8241C"/>
                </a:solidFill>
                <a:latin typeface="Helvetica Neue"/>
              </a:rPr>
              <a:t>Reviewed migrations</a:t>
            </a:r>
            <a:r>
              <a:rPr sz="1400" b="0">
                <a:solidFill>
                  <a:srgbClr val="18241C"/>
                </a:solidFill>
                <a:latin typeface="Helvetica Neue"/>
              </a:rPr>
              <a:t> — deterministic seed data, hand-inspected SQL preserving tenant compound keys, checks, and partial indexes.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783080"/>
            <a:ext cx="51206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8241C"/>
                </a:solidFill>
                <a:latin typeface="Helvetica Neue"/>
              </a:rPr>
              <a:t>SaaS control plane</a:t>
            </a:r>
            <a:r>
              <a:rPr sz="1400" b="0">
                <a:solidFill>
                  <a:srgbClr val="18241C"/>
                </a:solidFill>
                <a:latin typeface="Helvetica Neue"/>
              </a:rPr>
              <a:t> — plans, entitlements, lifecycle, audit — separated from tenant data by design.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8241C"/>
                </a:solidFill>
                <a:latin typeface="Helvetica Neue"/>
              </a:rPr>
              <a:t>Infrastructure-as-code boundary</a:t>
            </a:r>
            <a:r>
              <a:rPr sz="1400" b="0">
                <a:solidFill>
                  <a:srgbClr val="18241C"/>
                </a:solidFill>
                <a:latin typeface="Helvetica Neue"/>
              </a:rPr>
              <a:t> — the runtime app never holds cloud-account or IaC credentials.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8241C"/>
                </a:solidFill>
                <a:latin typeface="Helvetica Neue"/>
              </a:rPr>
              <a:t>Degraded-state discipline</a:t>
            </a:r>
            <a:r>
              <a:rPr sz="1400" b="0">
                <a:solidFill>
                  <a:srgbClr val="18241C"/>
                </a:solidFill>
                <a:latin typeface="Helvetica Neue"/>
              </a:rPr>
              <a:t> — connectors fail soft: no maps key, no email provider, no processor… the shop keeps working.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029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212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9F3017"/>
                </a:solidFill>
                <a:latin typeface="Helvetica Neue"/>
              </a:rPr>
              <a:t>Business model, stated plainly: </a:t>
            </a:r>
            <a:r>
              <a:rPr sz="1350" b="0">
                <a:solidFill>
                  <a:srgbClr val="18241C"/>
                </a:solidFill>
                <a:latin typeface="Helvetica Neue"/>
              </a:rPr>
              <a:t>sustainable revenue may come from hosting, onboarding, migration, support, integrations, and branded apps — never from artificially removing core shop operations.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49"/>
                </a:solidFill>
                <a:latin typeface="Helvetica Neue"/>
              </a:rPr>
              <a:t>ShopOS · open-source launch preview · 2026 · Co-created by a human builder and Z.AI GLM-5.2 &amp; GLM-5.3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65449"/>
                </a:solidFill>
                <a:latin typeface="Helvetica Neue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GET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8241C"/>
                </a:solidFill>
                <a:latin typeface="Helvetica Neue"/>
              </a:rPr>
              <a:t>Try it in five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83080"/>
            <a:ext cx="5577840" cy="640080"/>
          </a:xfrm>
          <a:prstGeom prst="rect">
            <a:avLst/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94944" y="1901952"/>
            <a:ext cx="402336" cy="402336"/>
          </a:xfrm>
          <a:prstGeom prst="ellipse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CFAF6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91109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Clone &amp; install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148840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65449"/>
                </a:solidFill>
                <a:latin typeface="Helvetica Neue"/>
              </a:rPr>
              <a:t>git clone …/ShopOS &amp;&amp; pnpm install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551176"/>
            <a:ext cx="5577840" cy="640080"/>
          </a:xfrm>
          <a:prstGeom prst="rect">
            <a:avLst/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94944" y="2670048"/>
            <a:ext cx="402336" cy="402336"/>
          </a:xfrm>
          <a:prstGeom prst="ellipse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CFAF6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6791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Start 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2916936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65449"/>
                </a:solidFill>
                <a:latin typeface="Helvetica Neue"/>
              </a:rPr>
              <a:t>docker compose up -d  (or any Postgres 16+)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319272"/>
            <a:ext cx="5577840" cy="640080"/>
          </a:xfrm>
          <a:prstGeom prst="rect">
            <a:avLst/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4944" y="3438144"/>
            <a:ext cx="402336" cy="402336"/>
          </a:xfrm>
          <a:prstGeom prst="ellipse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CFAF6"/>
                </a:solidFill>
                <a:latin typeface="Helvetica Neu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34472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Migrate &amp; seed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3685032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65449"/>
                </a:solidFill>
                <a:latin typeface="Helvetica Neue"/>
              </a:rPr>
              <a:t>pnpm db:migrate &amp;&amp; pnpm db:seed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087368"/>
            <a:ext cx="5577840" cy="640080"/>
          </a:xfrm>
          <a:prstGeom prst="rect">
            <a:avLst/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4944" y="4206240"/>
            <a:ext cx="402336" cy="402336"/>
          </a:xfrm>
          <a:prstGeom prst="ellipse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CFAF6"/>
                </a:solidFill>
                <a:latin typeface="Helvetica Ne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421538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Run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4453128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65449"/>
                </a:solidFill>
                <a:latin typeface="Helvetica Neue"/>
              </a:rPr>
              <a:t>pnpm dev  →  http://localhost:3000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855464"/>
            <a:ext cx="5577840" cy="640080"/>
          </a:xfrm>
          <a:prstGeom prst="rect">
            <a:avLst/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4944" y="4974336"/>
            <a:ext cx="402336" cy="402336"/>
          </a:xfrm>
          <a:prstGeom prst="ellipse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CFAF6"/>
                </a:solidFill>
                <a:latin typeface="Helvetica Neue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8" y="498348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Sign 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2728" y="5221224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65449"/>
                </a:solidFill>
                <a:latin typeface="Helvetica Neue"/>
              </a:rPr>
              <a:t>owner@example.test / demo-password-123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1783080"/>
            <a:ext cx="5074920" cy="2834640"/>
          </a:xfrm>
          <a:prstGeom prst="roundRect">
            <a:avLst>
              <a:gd name="adj" fmla="val 5000"/>
            </a:avLst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7960" y="1783080"/>
            <a:ext cx="5074920" cy="457200"/>
          </a:xfrm>
          <a:prstGeom prst="rect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75704" y="18836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241C"/>
                </a:solidFill>
                <a:latin typeface="Helvetica Neue"/>
              </a:rPr>
              <a:t>SEEDED DEMO ACCOUNTS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5704" y="2395728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241C"/>
                </a:solidFill>
                <a:latin typeface="Helvetica Neue"/>
              </a:rPr>
              <a:t>owner@example.test</a:t>
            </a:r>
            <a:r>
              <a:rPr sz="1150" b="1">
                <a:solidFill>
                  <a:srgbClr val="9F3017"/>
                </a:solidFill>
                <a:latin typeface="Helvetica Neue"/>
              </a:rPr>
              <a:t>   demo-password-123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75704" y="2642616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65449"/>
                </a:solidFill>
                <a:latin typeface="Helvetica Neue"/>
              </a:rPr>
              <a:t>Shop owner — full operations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5704" y="3035808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241C"/>
                </a:solidFill>
                <a:latin typeface="Helvetica Neue"/>
              </a:rPr>
              <a:t>driver@example.test</a:t>
            </a:r>
            <a:r>
              <a:rPr sz="1150" b="1">
                <a:solidFill>
                  <a:srgbClr val="9F3017"/>
                </a:solidFill>
                <a:latin typeface="Helvetica Neue"/>
              </a:rPr>
              <a:t>   demo-password-123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75704" y="3282696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65449"/>
                </a:solidFill>
                <a:latin typeface="Helvetica Neue"/>
              </a:rPr>
              <a:t>Customer portal 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5704" y="3675888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8241C"/>
                </a:solidFill>
                <a:latin typeface="Helvetica Neue"/>
              </a:rPr>
              <a:t>maria@example.test</a:t>
            </a:r>
            <a:r>
              <a:rPr sz="1150" b="1">
                <a:solidFill>
                  <a:srgbClr val="9F3017"/>
                </a:solidFill>
                <a:latin typeface="Helvetica Neue"/>
              </a:rPr>
              <a:t>   magic link → console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5704" y="3922776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65449"/>
                </a:solidFill>
                <a:latin typeface="Helvetica Neue"/>
              </a:rPr>
              <a:t>Magic-link sign-in (prints to terminal in dev)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8064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8241C"/>
                </a:solidFill>
                <a:latin typeface="Helvetica Neue"/>
              </a:rPr>
              <a:t>The seed is deterministic </a:t>
            </a:r>
            <a:r>
              <a:rPr sz="1300" b="0">
                <a:solidFill>
                  <a:srgbClr val="465449"/>
                </a:solidFill>
                <a:latin typeface="Helvetica Neue"/>
              </a:rPr>
              <a:t>— automotive, motorcycle, and lawn-equipment examples that exercise every workflow end to end.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49"/>
                </a:solidFill>
                <a:latin typeface="Helvetica Neue"/>
              </a:rPr>
              <a:t>ShopOS · open-source launch preview · 2026 · Co-created by a human builder and Z.AI GLM-5.2 &amp; GLM-5.3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65449"/>
                </a:solidFill>
                <a:latin typeface="Helvetica Neue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WHAT WE NEED FROM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8241C"/>
                </a:solidFill>
                <a:latin typeface="Helvetica Neue"/>
              </a:rPr>
              <a:t>This release exists to collect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66751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8241C"/>
                </a:solidFill>
                <a:latin typeface="Helvetica Neue"/>
              </a:rPr>
              <a:t>Does the workflow fit your shop?</a:t>
            </a:r>
            <a:r>
              <a:rPr sz="1400" b="0">
                <a:solidFill>
                  <a:srgbClr val="18241C"/>
                </a:solidFill>
                <a:latin typeface="Helvetica Neue"/>
              </a:rPr>
              <a:t>You know the counter, the bench, and the parts run. Tell us where ShopOS fights the way you actually work.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8241C"/>
                </a:solidFill>
                <a:latin typeface="Helvetica Neue"/>
              </a:rPr>
              <a:t>What's missing before it's daily-drivable?</a:t>
            </a:r>
            <a:r>
              <a:rPr sz="1400" b="0">
                <a:solidFill>
                  <a:srgbClr val="18241C"/>
                </a:solidFill>
                <a:latin typeface="Helvetica Neue"/>
              </a:rPr>
              <a:t>Parts ordering realities, tax shapes, inspection patterns, payment habits — the unglamorous bits.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400" b="1">
                <a:solidFill>
                  <a:srgbClr val="9F3017"/>
                </a:solidFill>
                <a:latin typeface="Helvetica Neue"/>
              </a:rPr>
              <a:t>▸  </a:t>
            </a:r>
            <a:r>
              <a:rPr sz="1400" b="1">
                <a:solidFill>
                  <a:srgbClr val="18241C"/>
                </a:solidFill>
                <a:latin typeface="Helvetica Neue"/>
              </a:rPr>
              <a:t>Where should the API go first?</a:t>
            </a:r>
            <a:r>
              <a:rPr sz="1400" b="0">
                <a:solidFill>
                  <a:srgbClr val="18241C"/>
                </a:solidFill>
                <a:latin typeface="Helvetica Neue"/>
              </a:rPr>
              <a:t>The domain model is deliberate; the public API surface is still young and shaped best by early users.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783080"/>
            <a:ext cx="4114800" cy="2606040"/>
          </a:xfrm>
          <a:prstGeom prst="roundRect">
            <a:avLst>
              <a:gd name="adj" fmla="val 6000"/>
            </a:avLst>
          </a:prstGeom>
          <a:solidFill>
            <a:srgbClr val="FDFBF6"/>
          </a:solidFill>
          <a:ln w="12700">
            <a:solidFill>
              <a:srgbClr val="D0C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9" y="1783080"/>
            <a:ext cx="4114800" cy="457200"/>
          </a:xfrm>
          <a:prstGeom prst="rect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35823" y="188366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CFAF6"/>
                </a:solidFill>
                <a:latin typeface="Helvetica Neue"/>
              </a:rPr>
              <a:t>WHERE TO TALK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35823" y="2432304"/>
            <a:ext cx="3657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8241C"/>
                </a:solidFill>
                <a:latin typeface="Helvetica Neue"/>
              </a:rPr>
              <a:t>GitHub Discussions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465449"/>
                </a:solidFill>
                <a:latin typeface="Helvetica Neue"/>
              </a:rPr>
              <a:t>for questions, workflows, and show-and-tell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18241C"/>
                </a:solidFill>
                <a:latin typeface="Helvetica Neue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1">
                <a:solidFill>
                  <a:srgbClr val="18241C"/>
                </a:solidFill>
                <a:latin typeface="Helvetica Neue"/>
              </a:rPr>
              <a:t>GitHub Issues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465449"/>
                </a:solidFill>
                <a:latin typeface="Helvetica Neue"/>
              </a:rPr>
              <a:t>for anything reproducible — fixes land with regression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35823" y="37947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9F3017"/>
                </a:solidFill>
                <a:latin typeface="Helvetica Neue"/>
              </a:rPr>
              <a:t>github.com/JayQuattro/ShopOS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6177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3017"/>
                </a:solidFill>
                <a:latin typeface="Helvetica Neue"/>
              </a:rPr>
              <a:t>KEPT HONEST — NOT SHIPPED YET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93776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65449"/>
                </a:solidFill>
                <a:latin typeface="Helvetica Neue"/>
              </a:rPr>
              <a:t>SSO/SAML federation · production email delivery adapters · native mobile apps (the web UI is tablet-first) · support access / impersonation · locale-prefixed UI routing · license selection (a governance decision we're making with the community, not before it).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65449"/>
                </a:solidFill>
                <a:latin typeface="Helvetica Neue"/>
              </a:rPr>
              <a:t>ShopOS · open-source launch preview · 2026 · Co-created by a human builder and Z.AI GLM-5.2 &amp; GLM-5.3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465449"/>
                </a:solidFill>
                <a:latin typeface="Helvetica Neue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F3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45720"/>
          </a:xfrm>
          <a:prstGeom prst="rect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65976"/>
            <a:ext cx="12191695" cy="45720"/>
          </a:xfrm>
          <a:prstGeom prst="rect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CFAF6"/>
                </a:solidFill>
                <a:latin typeface="Helvetica Neue"/>
              </a:rPr>
              <a:t>Run your shop on your terms.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>
                <a:solidFill>
                  <a:srgbClr val="EDD0B5"/>
                </a:solidFill>
                <a:latin typeface="Helvetica Neue"/>
              </a:rPr>
              <a:t>Clone it, seed it, kick the tires — then tell us where it's wrong.</a:t>
            </a:r>
          </a:p>
          <a:p>
            <a:pPr algn="l">
              <a:lnSpc>
                <a:spcPct val="140000"/>
              </a:lnSpc>
            </a:pPr>
            <a:r>
              <a:rPr sz="1900" b="0">
                <a:solidFill>
                  <a:srgbClr val="EDD0B5"/>
                </a:solidFill>
                <a:latin typeface="Helvetica Neue"/>
              </a:rPr>
              <a:t>The parts that matter to real shops get built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CFAF6"/>
                </a:solidFill>
                <a:latin typeface="Helvetica Neue"/>
              </a:rPr>
              <a:t>github.com/JayQuattro/ShopOS</a:t>
            </a:r>
            <a:r>
              <a:rPr sz="1600" b="0">
                <a:solidFill>
                  <a:srgbClr val="EDD0B5"/>
                </a:solidFill>
                <a:latin typeface="Helvetica Neue"/>
              </a:rPr>
              <a:t>    ·    Discussions    ·    Issues    ·    docs/features.md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074920"/>
            <a:ext cx="3108960" cy="27432"/>
          </a:xfrm>
          <a:prstGeom prst="rect">
            <a:avLst/>
          </a:prstGeom>
          <a:solidFill>
            <a:srgbClr val="EDD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FCFAF6"/>
                </a:solidFill>
                <a:latin typeface="Helvetica Neue"/>
              </a:rPr>
              <a:t>Built in the open.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EDD0B5"/>
                </a:solidFill>
                <a:latin typeface="Helvetica Neue"/>
              </a:rPr>
              <a:t>The application and this presentation were co-created by a human builder working with Z.AI GLM-5.2 &amp; GLM-5.3.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